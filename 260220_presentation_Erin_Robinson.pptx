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210" r:id="rId1"/>
  </p:sldMasterIdLst>
  <p:notesMasterIdLst>
    <p:notesMasterId r:id="rId12"/>
  </p:notesMasterIdLst>
  <p:handoutMasterIdLst>
    <p:handoutMasterId r:id="rId13"/>
  </p:handoutMasterIdLst>
  <p:sldIdLst>
    <p:sldId id="268" r:id="rId2"/>
    <p:sldId id="277" r:id="rId3"/>
    <p:sldId id="271" r:id="rId4"/>
    <p:sldId id="272" r:id="rId5"/>
    <p:sldId id="257" r:id="rId6"/>
    <p:sldId id="275" r:id="rId7"/>
    <p:sldId id="259" r:id="rId8"/>
    <p:sldId id="260" r:id="rId9"/>
    <p:sldId id="265" r:id="rId10"/>
    <p:sldId id="262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7286"/>
    <a:srgbClr val="685DE8"/>
    <a:srgbClr val="D6E9F4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ittlere Formatvorlage 3 - 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42"/>
    <p:restoredTop sz="94697"/>
  </p:normalViewPr>
  <p:slideViewPr>
    <p:cSldViewPr snapToGrid="0">
      <p:cViewPr varScale="1">
        <p:scale>
          <a:sx n="108" d="100"/>
          <a:sy n="108" d="100"/>
        </p:scale>
        <p:origin x="9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DEB24C-E730-CA42-9E32-C5A52E2B6D29}" type="doc">
      <dgm:prSet loTypeId="urn:microsoft.com/office/officeart/2005/8/layout/list1" loCatId="relationship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e-DE"/>
        </a:p>
      </dgm:t>
    </dgm:pt>
    <dgm:pt modelId="{A805F572-01FF-ED49-B6BB-68E31F2C2F1D}">
      <dgm:prSet custT="1"/>
      <dgm:spPr/>
      <dgm:t>
        <a:bodyPr/>
        <a:lstStyle/>
        <a:p>
          <a:r>
            <a:rPr lang="de-DE" sz="20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Hypothesis 1: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The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lower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the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grade and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condition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the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cheaper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the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house</a:t>
          </a:r>
          <a:endParaRPr lang="de-DE" sz="2000" b="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520E8C-F183-F64B-83A4-7852458A5EB4}" type="parTrans" cxnId="{5C5A8DF4-2F28-D749-B0C9-599F8C668F14}">
      <dgm:prSet/>
      <dgm:spPr/>
      <dgm:t>
        <a:bodyPr/>
        <a:lstStyle/>
        <a:p>
          <a:endParaRPr lang="de-DE" sz="2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4B9403B-159A-114A-9B16-AA319E79D419}" type="sibTrans" cxnId="{5C5A8DF4-2F28-D749-B0C9-599F8C668F14}">
      <dgm:prSet/>
      <dgm:spPr/>
      <dgm:t>
        <a:bodyPr/>
        <a:lstStyle/>
        <a:p>
          <a:endParaRPr lang="de-DE" sz="2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9424B2B-4C2B-8A49-A993-3DD5E816225B}">
      <dgm:prSet custT="1"/>
      <dgm:spPr/>
      <dgm:t>
        <a:bodyPr/>
        <a:lstStyle/>
        <a:p>
          <a:r>
            <a:rPr lang="de-DE" sz="20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Hypothesis 2: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Cheap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houses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are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accumulated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in a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specific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council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district</a:t>
          </a:r>
          <a:endParaRPr lang="de-DE" sz="2000" b="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D10CBF6-6EAB-A74D-9D23-08517874FD61}" type="parTrans" cxnId="{8152226C-DA3E-9C40-92D2-134D254DE5EC}">
      <dgm:prSet/>
      <dgm:spPr/>
      <dgm:t>
        <a:bodyPr/>
        <a:lstStyle/>
        <a:p>
          <a:endParaRPr lang="de-DE" sz="2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EF48B4F-4D7A-8945-9702-47A04531B957}" type="sibTrans" cxnId="{8152226C-DA3E-9C40-92D2-134D254DE5EC}">
      <dgm:prSet/>
      <dgm:spPr/>
      <dgm:t>
        <a:bodyPr/>
        <a:lstStyle/>
        <a:p>
          <a:endParaRPr lang="de-DE" sz="2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A222380-D5BB-0B44-A9CF-C3570F32005F}">
      <dgm:prSet custT="1"/>
      <dgm:spPr/>
      <dgm:t>
        <a:bodyPr anchor="ctr"/>
        <a:lstStyle/>
        <a:p>
          <a:pPr algn="l"/>
          <a:r>
            <a:rPr lang="de-DE" sz="20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Hypothesis 3: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Houses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at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the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waterfront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are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more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expensive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compared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to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houses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without</a:t>
          </a:r>
          <a:r>
            <a:rPr lang="de-DE" sz="2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a </a:t>
          </a:r>
          <a:r>
            <a:rPr lang="de-DE" sz="2000" b="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waterfront</a:t>
          </a:r>
          <a:endParaRPr lang="de-DE" sz="2000" b="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FC0815B-D9BE-524C-904B-9A84A1235D3C}" type="parTrans" cxnId="{8A11E002-5FA1-9148-BD7C-CD91BECFBF02}">
      <dgm:prSet/>
      <dgm:spPr/>
      <dgm:t>
        <a:bodyPr/>
        <a:lstStyle/>
        <a:p>
          <a:endParaRPr lang="de-DE" sz="2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D3E0F0-E932-8E4E-AD20-701F67ED36CC}" type="sibTrans" cxnId="{8A11E002-5FA1-9148-BD7C-CD91BECFBF02}">
      <dgm:prSet/>
      <dgm:spPr/>
      <dgm:t>
        <a:bodyPr/>
        <a:lstStyle/>
        <a:p>
          <a:endParaRPr lang="de-DE" sz="200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DD9092-EC9B-1441-B9F8-129B4A95E0B6}" type="pres">
      <dgm:prSet presAssocID="{0CDEB24C-E730-CA42-9E32-C5A52E2B6D29}" presName="linear" presStyleCnt="0">
        <dgm:presLayoutVars>
          <dgm:dir/>
          <dgm:animLvl val="lvl"/>
          <dgm:resizeHandles val="exact"/>
        </dgm:presLayoutVars>
      </dgm:prSet>
      <dgm:spPr/>
    </dgm:pt>
    <dgm:pt modelId="{D94036F2-0D02-8748-88AC-F08572650C70}" type="pres">
      <dgm:prSet presAssocID="{A805F572-01FF-ED49-B6BB-68E31F2C2F1D}" presName="parentLin" presStyleCnt="0"/>
      <dgm:spPr/>
    </dgm:pt>
    <dgm:pt modelId="{FAF272FC-7A81-C144-8FA5-EBB2990515DC}" type="pres">
      <dgm:prSet presAssocID="{A805F572-01FF-ED49-B6BB-68E31F2C2F1D}" presName="parentLeftMargin" presStyleLbl="node1" presStyleIdx="0" presStyleCnt="3"/>
      <dgm:spPr/>
    </dgm:pt>
    <dgm:pt modelId="{FDC20071-6553-784A-AC53-3F67911A338E}" type="pres">
      <dgm:prSet presAssocID="{A805F572-01FF-ED49-B6BB-68E31F2C2F1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8767821-DAB4-E24C-9262-CCE4856DC799}" type="pres">
      <dgm:prSet presAssocID="{A805F572-01FF-ED49-B6BB-68E31F2C2F1D}" presName="negativeSpace" presStyleCnt="0"/>
      <dgm:spPr/>
    </dgm:pt>
    <dgm:pt modelId="{33EC89A9-C3E6-FE4F-AF83-2BF753A9E868}" type="pres">
      <dgm:prSet presAssocID="{A805F572-01FF-ED49-B6BB-68E31F2C2F1D}" presName="childText" presStyleLbl="conFgAcc1" presStyleIdx="0" presStyleCnt="3">
        <dgm:presLayoutVars>
          <dgm:bulletEnabled val="1"/>
        </dgm:presLayoutVars>
      </dgm:prSet>
      <dgm:spPr/>
    </dgm:pt>
    <dgm:pt modelId="{EEC05563-F9DB-9144-A17A-628BEEA37B50}" type="pres">
      <dgm:prSet presAssocID="{84B9403B-159A-114A-9B16-AA319E79D419}" presName="spaceBetweenRectangles" presStyleCnt="0"/>
      <dgm:spPr/>
    </dgm:pt>
    <dgm:pt modelId="{A51EE1C3-AEDB-6E4D-8A77-E651E05A90C7}" type="pres">
      <dgm:prSet presAssocID="{59424B2B-4C2B-8A49-A993-3DD5E816225B}" presName="parentLin" presStyleCnt="0"/>
      <dgm:spPr/>
    </dgm:pt>
    <dgm:pt modelId="{8520093B-C8A6-634A-8FC3-69F6E8F2C20C}" type="pres">
      <dgm:prSet presAssocID="{59424B2B-4C2B-8A49-A993-3DD5E816225B}" presName="parentLeftMargin" presStyleLbl="node1" presStyleIdx="0" presStyleCnt="3"/>
      <dgm:spPr/>
    </dgm:pt>
    <dgm:pt modelId="{9F145E15-C8E3-B34C-8BF2-6D05564A6E1D}" type="pres">
      <dgm:prSet presAssocID="{59424B2B-4C2B-8A49-A993-3DD5E816225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C929AA3-2539-CA41-B7DE-D407398919C7}" type="pres">
      <dgm:prSet presAssocID="{59424B2B-4C2B-8A49-A993-3DD5E816225B}" presName="negativeSpace" presStyleCnt="0"/>
      <dgm:spPr/>
    </dgm:pt>
    <dgm:pt modelId="{FBD0FA40-3F1B-2C47-B2C0-E38C38CD907D}" type="pres">
      <dgm:prSet presAssocID="{59424B2B-4C2B-8A49-A993-3DD5E816225B}" presName="childText" presStyleLbl="conFgAcc1" presStyleIdx="1" presStyleCnt="3">
        <dgm:presLayoutVars>
          <dgm:bulletEnabled val="1"/>
        </dgm:presLayoutVars>
      </dgm:prSet>
      <dgm:spPr/>
    </dgm:pt>
    <dgm:pt modelId="{286AEB05-2FAF-A344-B641-286D3D0230B4}" type="pres">
      <dgm:prSet presAssocID="{6EF48B4F-4D7A-8945-9702-47A04531B957}" presName="spaceBetweenRectangles" presStyleCnt="0"/>
      <dgm:spPr/>
    </dgm:pt>
    <dgm:pt modelId="{52D0824D-511A-4C48-84A9-39A990A397AC}" type="pres">
      <dgm:prSet presAssocID="{3A222380-D5BB-0B44-A9CF-C3570F32005F}" presName="parentLin" presStyleCnt="0"/>
      <dgm:spPr/>
    </dgm:pt>
    <dgm:pt modelId="{AEC4BE54-9C5D-6A4B-B92E-582B8F18C875}" type="pres">
      <dgm:prSet presAssocID="{3A222380-D5BB-0B44-A9CF-C3570F32005F}" presName="parentLeftMargin" presStyleLbl="node1" presStyleIdx="1" presStyleCnt="3"/>
      <dgm:spPr/>
    </dgm:pt>
    <dgm:pt modelId="{C48A5B63-D1E8-E942-AE00-7587CF1A465D}" type="pres">
      <dgm:prSet presAssocID="{3A222380-D5BB-0B44-A9CF-C3570F32005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F1D7FC2-F521-B14A-BB0E-7DCD54929B0E}" type="pres">
      <dgm:prSet presAssocID="{3A222380-D5BB-0B44-A9CF-C3570F32005F}" presName="negativeSpace" presStyleCnt="0"/>
      <dgm:spPr/>
    </dgm:pt>
    <dgm:pt modelId="{631966DA-7071-B84C-9E1F-7F795C356E5A}" type="pres">
      <dgm:prSet presAssocID="{3A222380-D5BB-0B44-A9CF-C3570F32005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A11E002-5FA1-9148-BD7C-CD91BECFBF02}" srcId="{0CDEB24C-E730-CA42-9E32-C5A52E2B6D29}" destId="{3A222380-D5BB-0B44-A9CF-C3570F32005F}" srcOrd="2" destOrd="0" parTransId="{FFC0815B-D9BE-524C-904B-9A84A1235D3C}" sibTransId="{67D3E0F0-E932-8E4E-AD20-701F67ED36CC}"/>
    <dgm:cxn modelId="{65F16120-A5CA-9B45-BA87-C70BBF72F89E}" type="presOf" srcId="{3A222380-D5BB-0B44-A9CF-C3570F32005F}" destId="{AEC4BE54-9C5D-6A4B-B92E-582B8F18C875}" srcOrd="0" destOrd="0" presId="urn:microsoft.com/office/officeart/2005/8/layout/list1"/>
    <dgm:cxn modelId="{3EA62F2E-801A-E748-A83D-E17F7E3AB79F}" type="presOf" srcId="{59424B2B-4C2B-8A49-A993-3DD5E816225B}" destId="{8520093B-C8A6-634A-8FC3-69F6E8F2C20C}" srcOrd="0" destOrd="0" presId="urn:microsoft.com/office/officeart/2005/8/layout/list1"/>
    <dgm:cxn modelId="{9556E848-9378-814E-A884-8B35C0389BC3}" type="presOf" srcId="{A805F572-01FF-ED49-B6BB-68E31F2C2F1D}" destId="{FDC20071-6553-784A-AC53-3F67911A338E}" srcOrd="1" destOrd="0" presId="urn:microsoft.com/office/officeart/2005/8/layout/list1"/>
    <dgm:cxn modelId="{8152226C-DA3E-9C40-92D2-134D254DE5EC}" srcId="{0CDEB24C-E730-CA42-9E32-C5A52E2B6D29}" destId="{59424B2B-4C2B-8A49-A993-3DD5E816225B}" srcOrd="1" destOrd="0" parTransId="{AD10CBF6-6EAB-A74D-9D23-08517874FD61}" sibTransId="{6EF48B4F-4D7A-8945-9702-47A04531B957}"/>
    <dgm:cxn modelId="{AB215595-1A29-5B4B-AE33-99CF4FC2A93D}" type="presOf" srcId="{A805F572-01FF-ED49-B6BB-68E31F2C2F1D}" destId="{FAF272FC-7A81-C144-8FA5-EBB2990515DC}" srcOrd="0" destOrd="0" presId="urn:microsoft.com/office/officeart/2005/8/layout/list1"/>
    <dgm:cxn modelId="{5A5EA5A4-A3A2-9C46-936D-5BEC733446FC}" type="presOf" srcId="{3A222380-D5BB-0B44-A9CF-C3570F32005F}" destId="{C48A5B63-D1E8-E942-AE00-7587CF1A465D}" srcOrd="1" destOrd="0" presId="urn:microsoft.com/office/officeart/2005/8/layout/list1"/>
    <dgm:cxn modelId="{7A1C8EC7-9B02-F14C-820E-3599E7579CC7}" type="presOf" srcId="{0CDEB24C-E730-CA42-9E32-C5A52E2B6D29}" destId="{02DD9092-EC9B-1441-B9F8-129B4A95E0B6}" srcOrd="0" destOrd="0" presId="urn:microsoft.com/office/officeart/2005/8/layout/list1"/>
    <dgm:cxn modelId="{5C5A8DF4-2F28-D749-B0C9-599F8C668F14}" srcId="{0CDEB24C-E730-CA42-9E32-C5A52E2B6D29}" destId="{A805F572-01FF-ED49-B6BB-68E31F2C2F1D}" srcOrd="0" destOrd="0" parTransId="{8B520E8C-F183-F64B-83A4-7852458A5EB4}" sibTransId="{84B9403B-159A-114A-9B16-AA319E79D419}"/>
    <dgm:cxn modelId="{86491CF8-0213-6E46-A3DA-B7A279651DBB}" type="presOf" srcId="{59424B2B-4C2B-8A49-A993-3DD5E816225B}" destId="{9F145E15-C8E3-B34C-8BF2-6D05564A6E1D}" srcOrd="1" destOrd="0" presId="urn:microsoft.com/office/officeart/2005/8/layout/list1"/>
    <dgm:cxn modelId="{64FE033D-0129-5940-9BB1-1DAAF6A08129}" type="presParOf" srcId="{02DD9092-EC9B-1441-B9F8-129B4A95E0B6}" destId="{D94036F2-0D02-8748-88AC-F08572650C70}" srcOrd="0" destOrd="0" presId="urn:microsoft.com/office/officeart/2005/8/layout/list1"/>
    <dgm:cxn modelId="{A24C3CC4-7000-C94D-8C5E-B22CCD2E24B9}" type="presParOf" srcId="{D94036F2-0D02-8748-88AC-F08572650C70}" destId="{FAF272FC-7A81-C144-8FA5-EBB2990515DC}" srcOrd="0" destOrd="0" presId="urn:microsoft.com/office/officeart/2005/8/layout/list1"/>
    <dgm:cxn modelId="{5DDAC302-FAE1-A94A-89A1-D80134FAB08D}" type="presParOf" srcId="{D94036F2-0D02-8748-88AC-F08572650C70}" destId="{FDC20071-6553-784A-AC53-3F67911A338E}" srcOrd="1" destOrd="0" presId="urn:microsoft.com/office/officeart/2005/8/layout/list1"/>
    <dgm:cxn modelId="{11491017-5A6D-324B-9294-F5FC1E7F1433}" type="presParOf" srcId="{02DD9092-EC9B-1441-B9F8-129B4A95E0B6}" destId="{A8767821-DAB4-E24C-9262-CCE4856DC799}" srcOrd="1" destOrd="0" presId="urn:microsoft.com/office/officeart/2005/8/layout/list1"/>
    <dgm:cxn modelId="{A75F185A-1FA4-1D42-9CDB-FF8EA9A7F4E0}" type="presParOf" srcId="{02DD9092-EC9B-1441-B9F8-129B4A95E0B6}" destId="{33EC89A9-C3E6-FE4F-AF83-2BF753A9E868}" srcOrd="2" destOrd="0" presId="urn:microsoft.com/office/officeart/2005/8/layout/list1"/>
    <dgm:cxn modelId="{58116499-8E61-A643-A866-0E20D0D6DBEA}" type="presParOf" srcId="{02DD9092-EC9B-1441-B9F8-129B4A95E0B6}" destId="{EEC05563-F9DB-9144-A17A-628BEEA37B50}" srcOrd="3" destOrd="0" presId="urn:microsoft.com/office/officeart/2005/8/layout/list1"/>
    <dgm:cxn modelId="{D7D287E3-A99D-EB43-9B95-0B0D1F52A250}" type="presParOf" srcId="{02DD9092-EC9B-1441-B9F8-129B4A95E0B6}" destId="{A51EE1C3-AEDB-6E4D-8A77-E651E05A90C7}" srcOrd="4" destOrd="0" presId="urn:microsoft.com/office/officeart/2005/8/layout/list1"/>
    <dgm:cxn modelId="{5235A6BE-0576-064F-AAFE-D46B83B60FED}" type="presParOf" srcId="{A51EE1C3-AEDB-6E4D-8A77-E651E05A90C7}" destId="{8520093B-C8A6-634A-8FC3-69F6E8F2C20C}" srcOrd="0" destOrd="0" presId="urn:microsoft.com/office/officeart/2005/8/layout/list1"/>
    <dgm:cxn modelId="{16C9803E-A037-6D4A-8D0A-5A6B680B7CB5}" type="presParOf" srcId="{A51EE1C3-AEDB-6E4D-8A77-E651E05A90C7}" destId="{9F145E15-C8E3-B34C-8BF2-6D05564A6E1D}" srcOrd="1" destOrd="0" presId="urn:microsoft.com/office/officeart/2005/8/layout/list1"/>
    <dgm:cxn modelId="{EEC14A97-B3D7-6E4B-B5AF-6A9F4FC805AA}" type="presParOf" srcId="{02DD9092-EC9B-1441-B9F8-129B4A95E0B6}" destId="{2C929AA3-2539-CA41-B7DE-D407398919C7}" srcOrd="5" destOrd="0" presId="urn:microsoft.com/office/officeart/2005/8/layout/list1"/>
    <dgm:cxn modelId="{46BAE3F1-B033-4142-8B40-388DE9D9AC82}" type="presParOf" srcId="{02DD9092-EC9B-1441-B9F8-129B4A95E0B6}" destId="{FBD0FA40-3F1B-2C47-B2C0-E38C38CD907D}" srcOrd="6" destOrd="0" presId="urn:microsoft.com/office/officeart/2005/8/layout/list1"/>
    <dgm:cxn modelId="{BB0C12DC-AB92-2949-B2BE-93EE3ADA912B}" type="presParOf" srcId="{02DD9092-EC9B-1441-B9F8-129B4A95E0B6}" destId="{286AEB05-2FAF-A344-B641-286D3D0230B4}" srcOrd="7" destOrd="0" presId="urn:microsoft.com/office/officeart/2005/8/layout/list1"/>
    <dgm:cxn modelId="{48CD80D8-AA6B-E049-9B7C-D86AEB594D29}" type="presParOf" srcId="{02DD9092-EC9B-1441-B9F8-129B4A95E0B6}" destId="{52D0824D-511A-4C48-84A9-39A990A397AC}" srcOrd="8" destOrd="0" presId="urn:microsoft.com/office/officeart/2005/8/layout/list1"/>
    <dgm:cxn modelId="{D915B4F5-5993-3A4B-B41F-C32FE179ABFA}" type="presParOf" srcId="{52D0824D-511A-4C48-84A9-39A990A397AC}" destId="{AEC4BE54-9C5D-6A4B-B92E-582B8F18C875}" srcOrd="0" destOrd="0" presId="urn:microsoft.com/office/officeart/2005/8/layout/list1"/>
    <dgm:cxn modelId="{52F6927D-2D1E-2B4B-B087-88085E65D2F1}" type="presParOf" srcId="{52D0824D-511A-4C48-84A9-39A990A397AC}" destId="{C48A5B63-D1E8-E942-AE00-7587CF1A465D}" srcOrd="1" destOrd="0" presId="urn:microsoft.com/office/officeart/2005/8/layout/list1"/>
    <dgm:cxn modelId="{40CB953A-DC4D-6044-BF32-34ADDE4EBF2D}" type="presParOf" srcId="{02DD9092-EC9B-1441-B9F8-129B4A95E0B6}" destId="{9F1D7FC2-F521-B14A-BB0E-7DCD54929B0E}" srcOrd="9" destOrd="0" presId="urn:microsoft.com/office/officeart/2005/8/layout/list1"/>
    <dgm:cxn modelId="{EB40A4BC-3711-5246-84D7-712324C67864}" type="presParOf" srcId="{02DD9092-EC9B-1441-B9F8-129B4A95E0B6}" destId="{631966DA-7071-B84C-9E1F-7F795C356E5A}" srcOrd="10" destOrd="0" presId="urn:microsoft.com/office/officeart/2005/8/layout/lis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EC89A9-C3E6-FE4F-AF83-2BF753A9E868}">
      <dsp:nvSpPr>
        <dsp:cNvPr id="0" name=""/>
        <dsp:cNvSpPr/>
      </dsp:nvSpPr>
      <dsp:spPr>
        <a:xfrm>
          <a:off x="0" y="515560"/>
          <a:ext cx="11874303" cy="8063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C20071-6553-784A-AC53-3F67911A338E}">
      <dsp:nvSpPr>
        <dsp:cNvPr id="0" name=""/>
        <dsp:cNvSpPr/>
      </dsp:nvSpPr>
      <dsp:spPr>
        <a:xfrm>
          <a:off x="593715" y="43240"/>
          <a:ext cx="8312012" cy="9446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174" tIns="0" rIns="31417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Hypothesis 1: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The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lower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the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grade and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condition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the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cheaper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the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house</a:t>
          </a:r>
          <a:endParaRPr lang="de-DE" sz="2000" b="0" kern="12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39829" y="89354"/>
        <a:ext cx="8219784" cy="852412"/>
      </dsp:txXfrm>
    </dsp:sp>
    <dsp:sp modelId="{FBD0FA40-3F1B-2C47-B2C0-E38C38CD907D}">
      <dsp:nvSpPr>
        <dsp:cNvPr id="0" name=""/>
        <dsp:cNvSpPr/>
      </dsp:nvSpPr>
      <dsp:spPr>
        <a:xfrm>
          <a:off x="0" y="1967080"/>
          <a:ext cx="11874303" cy="8063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145E15-C8E3-B34C-8BF2-6D05564A6E1D}">
      <dsp:nvSpPr>
        <dsp:cNvPr id="0" name=""/>
        <dsp:cNvSpPr/>
      </dsp:nvSpPr>
      <dsp:spPr>
        <a:xfrm>
          <a:off x="593715" y="1494760"/>
          <a:ext cx="8312012" cy="9446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174" tIns="0" rIns="31417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Hypothesis 2: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Cheap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houses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are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accumulated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in a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specific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council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district</a:t>
          </a:r>
          <a:endParaRPr lang="de-DE" sz="2000" b="0" kern="12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39829" y="1540874"/>
        <a:ext cx="8219784" cy="852412"/>
      </dsp:txXfrm>
    </dsp:sp>
    <dsp:sp modelId="{631966DA-7071-B84C-9E1F-7F795C356E5A}">
      <dsp:nvSpPr>
        <dsp:cNvPr id="0" name=""/>
        <dsp:cNvSpPr/>
      </dsp:nvSpPr>
      <dsp:spPr>
        <a:xfrm>
          <a:off x="0" y="3418600"/>
          <a:ext cx="11874303" cy="8063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8A5B63-D1E8-E942-AE00-7587CF1A465D}">
      <dsp:nvSpPr>
        <dsp:cNvPr id="0" name=""/>
        <dsp:cNvSpPr/>
      </dsp:nvSpPr>
      <dsp:spPr>
        <a:xfrm>
          <a:off x="593715" y="2946280"/>
          <a:ext cx="8312012" cy="9446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174" tIns="0" rIns="31417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Hypothesis 3: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Houses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at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the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waterfront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are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more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expensive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compared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to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houses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without</a:t>
          </a:r>
          <a:r>
            <a:rPr lang="de-DE" sz="2000" b="0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a </a:t>
          </a:r>
          <a:r>
            <a:rPr lang="de-DE" sz="2000" b="0" kern="1200" dirty="0" err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waterfront</a:t>
          </a:r>
          <a:endParaRPr lang="de-DE" sz="2000" b="0" kern="12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39829" y="2992394"/>
        <a:ext cx="8219784" cy="8524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D69D87CD-6DEC-82D8-E047-C51DEAE6BE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0CFBC0-5343-1A45-C5F3-E298FB84F4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9C86C-B3C5-BF42-8D4C-2D8F35783755}" type="datetimeFigureOut">
              <a:rPr lang="de-DE" smtClean="0"/>
              <a:t>19.02.26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233BDFC-0A3F-3322-180D-9CEC26929D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1421C7-373B-0DF1-283A-DD76305A3C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7E8FFC-CE50-A043-B6A5-4AEE15C374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72517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9BB06-855E-5A46-9B9E-17A63F561CB4}" type="datetimeFigureOut">
              <a:rPr lang="de-DE" smtClean="0"/>
              <a:t>19.02.26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593D4-6442-DD42-8559-819911B298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98802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DBE53A-6E2D-660C-457A-7F68360C8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6255CA-1E88-4B49-6044-D6044C87D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7C0F10-CC5A-D0C6-551C-3B82BA540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842E4-5ED0-224D-9D95-40F10C1C0095}" type="datetime1">
              <a:rPr lang="de-DE" smtClean="0"/>
              <a:t>19.02.26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4CE129-F06C-F421-6AB4-1C493BFFD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7FFA0F-AFFF-C0D8-2671-FFB3BC570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7D8C-85A1-A94D-B91A-4E7148FA21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0379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347727-A57C-A07C-A842-0FD4735F0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16FD1C-66EF-9C45-0B93-F625EF4B3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DF093F-0143-833B-C71B-5C798A383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CB4E3-E04C-B64B-96C0-30CF80C6728A}" type="datetime1">
              <a:rPr lang="de-DE" smtClean="0"/>
              <a:t>19.02.26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02D797-B832-54DC-97ED-61D91F21A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5E7252-AEB8-2713-8779-5E534DFDA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7D8C-85A1-A94D-B91A-4E7148FA21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2585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C23BCC-D149-F911-2E97-5532A2EB8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A2E7AC-80A0-55BD-C315-66341E88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81A989-2BEB-316C-1F24-F5D677408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6B5AD-30B7-A242-87C3-F850EB1C7953}" type="datetime1">
              <a:rPr lang="de-DE" smtClean="0"/>
              <a:t>19.02.26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A06A45-EA37-133A-FD01-3E3F59DF1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F4F11C-DCE1-9DAF-17B9-492D096D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7D8C-85A1-A94D-B91A-4E7148FA21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6157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272E45-920E-140B-B55A-44B8A7CE7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A1BB2F-9905-C630-E3F3-7D7399B7E5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4D41BD7-CE73-5796-4C27-AA54BF293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E262303-D00E-4DFF-3AE1-01EDCA09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C4D1-86EA-924B-B795-EF35422903C7}" type="datetime1">
              <a:rPr lang="de-DE" smtClean="0"/>
              <a:t>19.02.26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CB57A2-55CD-9265-5148-9F74AC501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E2EC0C6-37C9-ACDB-4D25-C3CB53770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7D8C-85A1-A94D-B91A-4E7148FA21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205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795F1F-5D61-57F2-0514-F5E025849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7360E2-065B-924E-2F64-DF023CE66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B8FC670-A14C-F58A-AED3-E12B71484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1D75CAB-D5E4-FD68-3AF1-778B64072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6A6121A-3D4E-C3A5-EA9B-CF3BCB99F1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33BF68F-115E-740D-F190-9E2DA27AE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0C44-181A-B142-9AEA-2B02512BA0AE}" type="datetime1">
              <a:rPr lang="de-DE" smtClean="0"/>
              <a:t>19.02.26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47EA0A5-57FC-6DED-BCA1-29C0D4BB6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B7F4FB9-CD47-519E-888B-49591C6E5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7D8C-85A1-A94D-B91A-4E7148FA21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0504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DDDA7A-38E3-0A38-654E-9342AEA7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D1BA277-89B7-B143-9159-2ECAD0251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2DD87-2F84-2443-A458-2FCAC8ED2B6D}" type="datetime1">
              <a:rPr lang="de-DE" smtClean="0"/>
              <a:t>19.02.26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78E558B-8EE2-1C22-20EB-279D5ADF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687446-B132-8CFB-217C-2E9FC3B46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7D8C-85A1-A94D-B91A-4E7148FA21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3604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D37030A-DFB8-5CCA-045B-9329D0C8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A8447-018C-CF47-A06C-63097EDA6AF8}" type="datetime1">
              <a:rPr lang="de-DE" smtClean="0"/>
              <a:t>19.02.26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E2D0A8C-2D3E-C33D-2504-4854E3C7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DB76905-41B2-BC17-7E56-01340A86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7D8C-85A1-A94D-B91A-4E7148FA21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3946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6A7232-79E1-10F9-D4FB-10D53322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A82C45-F0DC-0899-8745-F04ACADC6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C826DC-4D70-3F64-5021-84BD950A1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D0A186-8F3F-C2DB-F9D9-C8CE5873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B54E-326B-DA46-94ED-1DA406FC10DC}" type="datetime1">
              <a:rPr lang="de-DE" smtClean="0"/>
              <a:t>19.02.26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549FFF-250D-123B-D8EE-42E2A1D8A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FBE007-1704-0EC3-CB10-A552F0BBB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7D8C-85A1-A94D-B91A-4E7148FA21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9584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9DA2C5-CC35-11A9-6C70-690B9D568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A717FCB-8CAF-8CF9-882B-86C6B0C3A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B506545-7521-0B0A-5BBF-D58260B6D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2BE514B-2B89-8970-00DB-4075F330B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E225-185C-1B49-9A6A-E2280CBF6706}" type="datetime1">
              <a:rPr lang="de-DE" smtClean="0"/>
              <a:t>19.02.26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076982F-7673-4E89-0D69-362603D7C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9C2B4EF-A0A6-A86A-F603-646111DE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7D8C-85A1-A94D-B91A-4E7148FA21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81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92F590-1EA6-C2CF-845D-034F55CE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C9293BB-FD0B-E189-BF8E-C3474A75E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BE20CE-7B93-FAA4-3ECC-48B2E88CC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97B6-5EA1-7549-851E-751EA843AA0C}" type="datetime1">
              <a:rPr lang="de-DE" smtClean="0"/>
              <a:t>19.02.26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19630E-CF9D-C2E5-6F03-6366A2C9E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98CCD1-4E29-04BB-4E9C-24283B93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7D8C-85A1-A94D-B91A-4E7148FA21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0210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DDC556E-A5CA-905B-F553-84195B3ED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A8FA214-1E56-BB82-88D5-17337831D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859C1C-382D-A26B-38E6-4FA030C38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AC1F-BC09-D442-8FAB-902C1C5A2918}" type="datetime1">
              <a:rPr lang="de-DE" smtClean="0"/>
              <a:t>19.02.26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B6DAD2-1AE6-4638-D239-65F9113C9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9AA46C-2F52-D125-AEB5-5D0ECBC6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7D8C-85A1-A94D-B91A-4E7148FA21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2773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02E91D5-22F0-4E35-CC4E-70B49CC89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60377E-3638-0722-C406-7D6491137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DD87A9-EDAE-0EB4-19B7-C3B1353A6A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05690-3CC6-E94B-B589-B60E16C62643}" type="datetime1">
              <a:rPr lang="de-DE" smtClean="0"/>
              <a:t>19.02.26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A79567-6AA9-001C-B979-3F0C558BE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BB14BE-9B37-4255-ED63-4F9F333968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57D8C-85A1-A94D-B91A-4E7148FA21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56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1" r:id="rId1"/>
    <p:sldLayoutId id="2147484212" r:id="rId2"/>
    <p:sldLayoutId id="2147484213" r:id="rId3"/>
    <p:sldLayoutId id="2147484214" r:id="rId4"/>
    <p:sldLayoutId id="2147484215" r:id="rId5"/>
    <p:sldLayoutId id="2147484216" r:id="rId6"/>
    <p:sldLayoutId id="2147484217" r:id="rId7"/>
    <p:sldLayoutId id="2147484218" r:id="rId8"/>
    <p:sldLayoutId id="2147484219" r:id="rId9"/>
    <p:sldLayoutId id="2147484220" r:id="rId10"/>
    <p:sldLayoutId id="214748422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2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bg1"/>
            </a:gs>
            <a:gs pos="76000">
              <a:srgbClr val="467286"/>
            </a:gs>
            <a:gs pos="83000">
              <a:srgbClr val="467286"/>
            </a:gs>
            <a:gs pos="100000">
              <a:srgbClr val="156082"/>
            </a:gs>
          </a:gsLst>
          <a:lin ang="162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42181D-12F0-CE5C-5CBD-FE51F97C5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EBBCA31-AE37-D80E-115D-C1E99DB19FC6}"/>
              </a:ext>
            </a:extLst>
          </p:cNvPr>
          <p:cNvSpPr txBox="1"/>
          <p:nvPr/>
        </p:nvSpPr>
        <p:spPr>
          <a:xfrm>
            <a:off x="7626275" y="4883579"/>
            <a:ext cx="2394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DE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Isabell Durieux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098" name="Picture 2" descr="Triff – neue fische - in unserem Orientierungskurs">
            <a:extLst>
              <a:ext uri="{FF2B5EF4-FFF2-40B4-BE49-F238E27FC236}">
                <a16:creationId xmlns:a16="http://schemas.microsoft.com/office/drawing/2014/main" id="{B562EC84-BB6E-FA99-F47E-24E8627EB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0" y="6325546"/>
            <a:ext cx="1785088" cy="415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bout us — Laika">
            <a:extLst>
              <a:ext uri="{FF2B5EF4-FFF2-40B4-BE49-F238E27FC236}">
                <a16:creationId xmlns:a16="http://schemas.microsoft.com/office/drawing/2014/main" id="{88548F68-E7D7-C50C-D16C-10133EC56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2" t="31269" r="8092" b="35175"/>
          <a:stretch>
            <a:fillRect/>
          </a:stretch>
        </p:blipFill>
        <p:spPr bwMode="auto">
          <a:xfrm>
            <a:off x="2013995" y="6153144"/>
            <a:ext cx="1551008" cy="621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A63EA438-15D2-B6AD-3D24-6FFC446A4907}"/>
              </a:ext>
            </a:extLst>
          </p:cNvPr>
          <p:cNvSpPr txBox="1"/>
          <p:nvPr/>
        </p:nvSpPr>
        <p:spPr>
          <a:xfrm>
            <a:off x="8823767" y="4536616"/>
            <a:ext cx="10411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02/20/2026</a:t>
            </a:r>
            <a:endParaRPr lang="de-DE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5B1365F-541C-778E-B4D1-51895199B45A}"/>
              </a:ext>
            </a:extLst>
          </p:cNvPr>
          <p:cNvSpPr txBox="1"/>
          <p:nvPr/>
        </p:nvSpPr>
        <p:spPr>
          <a:xfrm>
            <a:off x="1684604" y="2263653"/>
            <a:ext cx="83366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3600" b="1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Exploratory</a:t>
            </a:r>
            <a:r>
              <a:rPr lang="de-DE" sz="36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Analysis </a:t>
            </a:r>
            <a:r>
              <a:rPr lang="de-DE" sz="3600" b="1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36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de-DE" sz="36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County</a:t>
            </a:r>
            <a:endParaRPr lang="de-DE" sz="36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027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36B98-8C85-9555-F639-24E034CFA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DDFE3A-3C6E-80B5-F198-B3ED6270151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7262814" y="2147888"/>
            <a:ext cx="4078122" cy="2084387"/>
          </a:xfrm>
        </p:spPr>
        <p:txBody>
          <a:bodyPr anchor="t">
            <a:normAutofit fontScale="90000"/>
          </a:bodyPr>
          <a:lstStyle/>
          <a:p>
            <a:pPr algn="l"/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de-DE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</a:t>
            </a: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DE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poor</a:t>
            </a: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neighborhood</a:t>
            </a:r>
            <a:b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de-DE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Buying</a:t>
            </a: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de-DE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selling</a:t>
            </a:r>
            <a:b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Costs back + </a:t>
            </a:r>
            <a:r>
              <a:rPr lang="de-DE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little</a:t>
            </a: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profit</a:t>
            </a:r>
            <a:b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de-DE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Socially</a:t>
            </a: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responsible</a:t>
            </a:r>
            <a:b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rafik 12" descr="Start mit einfarbiger Füllung">
            <a:extLst>
              <a:ext uri="{FF2B5EF4-FFF2-40B4-BE49-F238E27FC236}">
                <a16:creationId xmlns:a16="http://schemas.microsoft.com/office/drawing/2014/main" id="{B86925D5-21EA-E54B-7DF9-61948B07B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184" y="78179"/>
            <a:ext cx="723016" cy="723016"/>
          </a:xfrm>
          <a:prstGeom prst="rect">
            <a:avLst/>
          </a:prstGeom>
        </p:spPr>
      </p:pic>
      <p:sp>
        <p:nvSpPr>
          <p:cNvPr id="14" name="Titel 1">
            <a:extLst>
              <a:ext uri="{FF2B5EF4-FFF2-40B4-BE49-F238E27FC236}">
                <a16:creationId xmlns:a16="http://schemas.microsoft.com/office/drawing/2014/main" id="{0C86C2EB-B0F9-92F9-1942-6DE04563D6FC}"/>
              </a:ext>
            </a:extLst>
          </p:cNvPr>
          <p:cNvSpPr txBox="1">
            <a:spLocks/>
          </p:cNvSpPr>
          <p:nvPr/>
        </p:nvSpPr>
        <p:spPr>
          <a:xfrm>
            <a:off x="281644" y="5273742"/>
            <a:ext cx="9857779" cy="10542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de-DE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Goal: </a:t>
            </a:r>
            <a:r>
              <a:rPr lang="de-DE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affordable</a:t>
            </a: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houses</a:t>
            </a: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King County </a:t>
            </a:r>
          </a:p>
          <a:p>
            <a:pPr algn="l">
              <a:lnSpc>
                <a:spcPct val="150000"/>
              </a:lnSpc>
            </a:pPr>
            <a:endParaRPr lang="de-DE" sz="20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D8691C4-F11B-44EF-318E-F50FE618B508}"/>
              </a:ext>
            </a:extLst>
          </p:cNvPr>
          <p:cNvSpPr txBox="1">
            <a:spLocks/>
          </p:cNvSpPr>
          <p:nvPr/>
        </p:nvSpPr>
        <p:spPr>
          <a:xfrm>
            <a:off x="933892" y="8296"/>
            <a:ext cx="10515600" cy="12384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Buying</a:t>
            </a:r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requirements</a:t>
            </a:r>
            <a:b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Grafik 16" descr="Ein Bild, das Karte, Text, Atlas enthält.&#10;&#10;KI-generierte Inhalte können fehlerhaft sein.">
            <a:extLst>
              <a:ext uri="{FF2B5EF4-FFF2-40B4-BE49-F238E27FC236}">
                <a16:creationId xmlns:a16="http://schemas.microsoft.com/office/drawing/2014/main" id="{C2F3A9CA-3B90-03B6-C455-A4BA354542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09" t="13416" r="30233" b="17718"/>
          <a:stretch>
            <a:fillRect/>
          </a:stretch>
        </p:blipFill>
        <p:spPr>
          <a:xfrm>
            <a:off x="281644" y="1715593"/>
            <a:ext cx="6672277" cy="2949003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937BA8E1-3C49-D15F-A9F9-7826C0C4E799}"/>
              </a:ext>
            </a:extLst>
          </p:cNvPr>
          <p:cNvSpPr txBox="1"/>
          <p:nvPr/>
        </p:nvSpPr>
        <p:spPr>
          <a:xfrm>
            <a:off x="281644" y="1270001"/>
            <a:ext cx="28071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Houses</a:t>
            </a: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King County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E3772A3-E5FD-B884-9F95-C48E0A7AE375}"/>
              </a:ext>
            </a:extLst>
          </p:cNvPr>
          <p:cNvSpPr/>
          <p:nvPr/>
        </p:nvSpPr>
        <p:spPr>
          <a:xfrm>
            <a:off x="6953921" y="1715594"/>
            <a:ext cx="4759659" cy="2949003"/>
          </a:xfrm>
          <a:prstGeom prst="rect">
            <a:avLst/>
          </a:prstGeom>
          <a:noFill/>
          <a:ln>
            <a:solidFill>
              <a:srgbClr val="685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  <p:pic>
        <p:nvPicPr>
          <p:cNvPr id="20" name="Picture 2" descr="Triff – neue fische - in unserem Orientierungskurs">
            <a:extLst>
              <a:ext uri="{FF2B5EF4-FFF2-40B4-BE49-F238E27FC236}">
                <a16:creationId xmlns:a16="http://schemas.microsoft.com/office/drawing/2014/main" id="{9EAEBCA7-CC9B-914B-8F91-EEA42CDF4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0" y="6325546"/>
            <a:ext cx="1785088" cy="415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About us — Laika">
            <a:extLst>
              <a:ext uri="{FF2B5EF4-FFF2-40B4-BE49-F238E27FC236}">
                <a16:creationId xmlns:a16="http://schemas.microsoft.com/office/drawing/2014/main" id="{786D2600-67C4-721E-C958-8230D69D22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2" t="31269" r="8092" b="35175"/>
          <a:stretch>
            <a:fillRect/>
          </a:stretch>
        </p:blipFill>
        <p:spPr bwMode="auto">
          <a:xfrm>
            <a:off x="2013995" y="6153144"/>
            <a:ext cx="1551008" cy="621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24A22ACE-668F-4421-ABE4-9C1750A7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3750" y="6375916"/>
            <a:ext cx="2743200" cy="365125"/>
          </a:xfrm>
        </p:spPr>
        <p:txBody>
          <a:bodyPr/>
          <a:lstStyle/>
          <a:p>
            <a:fld id="{A6857D8C-85A1-A94D-B91A-4E7148FA21D3}" type="slidenum">
              <a:rPr lang="de-DE" smtClean="0"/>
              <a:t>2</a:t>
            </a:fld>
            <a:r>
              <a:rPr lang="de-DE" dirty="0"/>
              <a:t>/10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CDAF034-5ECE-4023-CDA0-927888376064}"/>
              </a:ext>
            </a:extLst>
          </p:cNvPr>
          <p:cNvSpPr txBox="1"/>
          <p:nvPr/>
        </p:nvSpPr>
        <p:spPr>
          <a:xfrm>
            <a:off x="6953921" y="1291540"/>
            <a:ext cx="17972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Erin Robinson</a:t>
            </a:r>
          </a:p>
        </p:txBody>
      </p:sp>
      <p:pic>
        <p:nvPicPr>
          <p:cNvPr id="5" name="Grafik 4" descr="Ein Bild, das Kleidung, Person, draußen, Menschliches Gesicht enthält.&#10;&#10;KI-generierte Inhalte können fehlerhaft sein.">
            <a:extLst>
              <a:ext uri="{FF2B5EF4-FFF2-40B4-BE49-F238E27FC236}">
                <a16:creationId xmlns:a16="http://schemas.microsoft.com/office/drawing/2014/main" id="{AA18686B-08C4-D750-EE41-2BCD7B5F9E3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8100"/>
          <a:stretch>
            <a:fillRect/>
          </a:stretch>
        </p:blipFill>
        <p:spPr>
          <a:xfrm>
            <a:off x="9501328" y="116959"/>
            <a:ext cx="2408043" cy="197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12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8B3C6-F02D-C98F-F957-A4099C297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2F95FCB7-6777-3962-29A5-C4CEAD05B1A5}"/>
              </a:ext>
            </a:extLst>
          </p:cNvPr>
          <p:cNvSpPr txBox="1">
            <a:spLocks/>
          </p:cNvSpPr>
          <p:nvPr/>
        </p:nvSpPr>
        <p:spPr>
          <a:xfrm>
            <a:off x="945467" y="-1"/>
            <a:ext cx="10515600" cy="12384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Summary </a:t>
            </a:r>
            <a:r>
              <a:rPr lang="de-DE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Hypotheses</a:t>
            </a:r>
            <a:b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9" name="Diagramm 18">
            <a:extLst>
              <a:ext uri="{FF2B5EF4-FFF2-40B4-BE49-F238E27FC236}">
                <a16:creationId xmlns:a16="http://schemas.microsoft.com/office/drawing/2014/main" id="{39EDB4D0-FC79-E6E8-6436-C813E03078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5607995"/>
              </p:ext>
            </p:extLst>
          </p:nvPr>
        </p:nvGraphicFramePr>
        <p:xfrm>
          <a:off x="158848" y="1623273"/>
          <a:ext cx="11874303" cy="4268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1" name="Grafik 20" descr="Gehirn im Kopf mit einfarbiger Füllung">
            <a:extLst>
              <a:ext uri="{FF2B5EF4-FFF2-40B4-BE49-F238E27FC236}">
                <a16:creationId xmlns:a16="http://schemas.microsoft.com/office/drawing/2014/main" id="{438242FC-E04C-29FA-33A8-63C2890000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8848" y="168635"/>
            <a:ext cx="697804" cy="686230"/>
          </a:xfrm>
          <a:prstGeom prst="rect">
            <a:avLst/>
          </a:prstGeom>
        </p:spPr>
      </p:pic>
      <p:sp>
        <p:nvSpPr>
          <p:cNvPr id="26" name="Foliennummernplatzhalter 22">
            <a:extLst>
              <a:ext uri="{FF2B5EF4-FFF2-40B4-BE49-F238E27FC236}">
                <a16:creationId xmlns:a16="http://schemas.microsoft.com/office/drawing/2014/main" id="{51BD1CF6-6A6C-8184-A61B-6D3D5767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3750" y="6375916"/>
            <a:ext cx="2743200" cy="365125"/>
          </a:xfrm>
        </p:spPr>
        <p:txBody>
          <a:bodyPr/>
          <a:lstStyle/>
          <a:p>
            <a:fld id="{A6857D8C-85A1-A94D-B91A-4E7148FA21D3}" type="slidenum">
              <a:rPr lang="de-DE" smtClean="0"/>
              <a:t>3</a:t>
            </a:fld>
            <a:r>
              <a:rPr lang="de-DE" dirty="0"/>
              <a:t>/10</a:t>
            </a:r>
          </a:p>
        </p:txBody>
      </p:sp>
      <p:pic>
        <p:nvPicPr>
          <p:cNvPr id="27" name="Picture 2" descr="Triff – neue fische - in unserem Orientierungskurs">
            <a:extLst>
              <a:ext uri="{FF2B5EF4-FFF2-40B4-BE49-F238E27FC236}">
                <a16:creationId xmlns:a16="http://schemas.microsoft.com/office/drawing/2014/main" id="{3923D01A-9AF0-D766-FED7-AA7C0EE2F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0" y="6325546"/>
            <a:ext cx="1785088" cy="415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 descr="About us — Laika">
            <a:extLst>
              <a:ext uri="{FF2B5EF4-FFF2-40B4-BE49-F238E27FC236}">
                <a16:creationId xmlns:a16="http://schemas.microsoft.com/office/drawing/2014/main" id="{BCF80CC5-506A-672C-1BFF-60BE4033A2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2" t="31269" r="8092" b="35175"/>
          <a:stretch>
            <a:fillRect/>
          </a:stretch>
        </p:blipFill>
        <p:spPr bwMode="auto">
          <a:xfrm>
            <a:off x="2013995" y="6153144"/>
            <a:ext cx="1551008" cy="621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9253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FE772-993E-C11C-A189-38E03F92B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ED50A288-1D18-2542-7D24-0EF161D9EEA9}"/>
              </a:ext>
            </a:extLst>
          </p:cNvPr>
          <p:cNvSpPr/>
          <p:nvPr/>
        </p:nvSpPr>
        <p:spPr>
          <a:xfrm>
            <a:off x="-12338" y="854913"/>
            <a:ext cx="12408061" cy="22047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AFD5AD66-7C1A-774A-AB48-A994D689C38A}"/>
              </a:ext>
            </a:extLst>
          </p:cNvPr>
          <p:cNvSpPr txBox="1">
            <a:spLocks/>
          </p:cNvSpPr>
          <p:nvPr/>
        </p:nvSpPr>
        <p:spPr>
          <a:xfrm>
            <a:off x="933893" y="-183084"/>
            <a:ext cx="10515600" cy="13896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de-DE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b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afik 8" descr="Balkendiagramm mit einfarbiger Füllung">
            <a:extLst>
              <a:ext uri="{FF2B5EF4-FFF2-40B4-BE49-F238E27FC236}">
                <a16:creationId xmlns:a16="http://schemas.microsoft.com/office/drawing/2014/main" id="{4B416138-5129-D332-6009-3059693A5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2391" y="69336"/>
            <a:ext cx="741502" cy="741502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94C0F252-1A4B-7A8E-46B4-913A0A16FA24}"/>
              </a:ext>
            </a:extLst>
          </p:cNvPr>
          <p:cNvSpPr txBox="1"/>
          <p:nvPr/>
        </p:nvSpPr>
        <p:spPr>
          <a:xfrm>
            <a:off x="0" y="971120"/>
            <a:ext cx="12002385" cy="1985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D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variable: 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</a:t>
            </a:r>
          </a:p>
          <a:p>
            <a:pPr>
              <a:lnSpc>
                <a:spcPct val="150000"/>
              </a:lnSpc>
            </a:pP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de-D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</a:t>
            </a:r>
            <a:r>
              <a:rPr lang="de-DE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r>
              <a:rPr lang="de-D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Bedrooms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bathrooms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sqft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living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sqft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lot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floors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sqft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above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sqft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basement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sqft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living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15,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sqft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lot15, date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selling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de-D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Quality and </a:t>
            </a:r>
            <a:r>
              <a:rPr lang="de-DE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</a:t>
            </a:r>
            <a:r>
              <a:rPr lang="de-D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factors</a:t>
            </a:r>
            <a:r>
              <a:rPr lang="de-D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Waterfront,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grade,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zipcode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de-D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Age, </a:t>
            </a:r>
            <a:r>
              <a:rPr lang="de-DE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Modernization</a:t>
            </a:r>
            <a:r>
              <a:rPr lang="de-D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renovated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Tabelle 20">
            <a:extLst>
              <a:ext uri="{FF2B5EF4-FFF2-40B4-BE49-F238E27FC236}">
                <a16:creationId xmlns:a16="http://schemas.microsoft.com/office/drawing/2014/main" id="{029C949C-5B29-1C5E-94ED-502AF615F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322447"/>
              </p:ext>
            </p:extLst>
          </p:nvPr>
        </p:nvGraphicFramePr>
        <p:xfrm>
          <a:off x="1795900" y="3294334"/>
          <a:ext cx="988029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438">
                  <a:extLst>
                    <a:ext uri="{9D8B030D-6E8A-4147-A177-3AD203B41FA5}">
                      <a16:colId xmlns:a16="http://schemas.microsoft.com/office/drawing/2014/main" val="9768808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56324369"/>
                    </a:ext>
                  </a:extLst>
                </a:gridCol>
                <a:gridCol w="8148577">
                  <a:extLst>
                    <a:ext uri="{9D8B030D-6E8A-4147-A177-3AD203B41FA5}">
                      <a16:colId xmlns:a16="http://schemas.microsoft.com/office/drawing/2014/main" val="3996710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</a:t>
                      </a:r>
                    </a:p>
                  </a:txBody>
                  <a:tcPr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275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Condition</a:t>
                      </a:r>
                      <a:endParaRPr lang="de-DE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How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good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overall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condition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house</a:t>
                      </a:r>
                      <a:endParaRPr lang="de-DE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802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Grade</a:t>
                      </a:r>
                      <a:endParaRPr lang="de-DE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Overall grade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given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housing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based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on King County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grading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</a:t>
                      </a:r>
                      <a:endParaRPr lang="de-DE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287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Lat</a:t>
                      </a:r>
                      <a:endParaRPr lang="de-DE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Latitude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coordinate</a:t>
                      </a:r>
                      <a:endParaRPr lang="de-DE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809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</a:t>
                      </a:r>
                      <a:endParaRPr lang="de-DE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Longitude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coordinate</a:t>
                      </a:r>
                      <a:endParaRPr lang="de-DE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03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endParaRPr lang="de-DE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prediction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de-DE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673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Waterfront</a:t>
                      </a:r>
                      <a:endParaRPr lang="de-DE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House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which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view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waterfront</a:t>
                      </a:r>
                      <a:endParaRPr lang="de-DE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057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  <a:endParaRPr lang="de-DE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Unique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identified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</a:t>
                      </a:r>
                      <a:r>
                        <a:rPr lang="de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 </a:t>
                      </a:r>
                      <a:r>
                        <a:rPr lang="de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house</a:t>
                      </a:r>
                      <a:endParaRPr lang="de-DE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418176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522EE96F-EF7F-7244-F3BA-64297B921793}"/>
              </a:ext>
            </a:extLst>
          </p:cNvPr>
          <p:cNvSpPr txBox="1"/>
          <p:nvPr/>
        </p:nvSpPr>
        <p:spPr>
          <a:xfrm>
            <a:off x="41349" y="3229842"/>
            <a:ext cx="1785088" cy="1296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8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Quality and </a:t>
            </a:r>
            <a:r>
              <a:rPr lang="de-DE" sz="1800" b="1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</a:t>
            </a:r>
            <a:r>
              <a:rPr lang="de-DE" sz="18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800" b="1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factors</a:t>
            </a:r>
            <a:endParaRPr lang="de-DE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Foliennummernplatzhalter 22">
            <a:extLst>
              <a:ext uri="{FF2B5EF4-FFF2-40B4-BE49-F238E27FC236}">
                <a16:creationId xmlns:a16="http://schemas.microsoft.com/office/drawing/2014/main" id="{358F2958-2427-55B3-0C56-751467AC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3750" y="6375916"/>
            <a:ext cx="2743200" cy="365125"/>
          </a:xfrm>
        </p:spPr>
        <p:txBody>
          <a:bodyPr/>
          <a:lstStyle/>
          <a:p>
            <a:fld id="{A6857D8C-85A1-A94D-B91A-4E7148FA21D3}" type="slidenum">
              <a:rPr lang="de-DE" smtClean="0"/>
              <a:t>4</a:t>
            </a:fld>
            <a:r>
              <a:rPr lang="de-DE" dirty="0"/>
              <a:t>/10</a:t>
            </a:r>
          </a:p>
        </p:txBody>
      </p:sp>
      <p:pic>
        <p:nvPicPr>
          <p:cNvPr id="11" name="Picture 2" descr="Triff – neue fische - in unserem Orientierungskurs">
            <a:extLst>
              <a:ext uri="{FF2B5EF4-FFF2-40B4-BE49-F238E27FC236}">
                <a16:creationId xmlns:a16="http://schemas.microsoft.com/office/drawing/2014/main" id="{6E0A3FBF-7DAE-D758-7E30-9807C96B1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0" y="6325546"/>
            <a:ext cx="1785088" cy="415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About us — Laika">
            <a:extLst>
              <a:ext uri="{FF2B5EF4-FFF2-40B4-BE49-F238E27FC236}">
                <a16:creationId xmlns:a16="http://schemas.microsoft.com/office/drawing/2014/main" id="{8D1382B7-5E7E-011F-C178-089DE57D2F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2" t="31269" r="8092" b="35175"/>
          <a:stretch>
            <a:fillRect/>
          </a:stretch>
        </p:blipFill>
        <p:spPr bwMode="auto">
          <a:xfrm>
            <a:off x="2013995" y="6153144"/>
            <a:ext cx="1551008" cy="621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060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F6AFA2-34D3-8E9B-FC3D-88FCEA000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46" y="286369"/>
            <a:ext cx="11989707" cy="77020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Hypothesis 1: The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lower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grade and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cheaper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house</a:t>
            </a:r>
            <a:b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Price </a:t>
            </a:r>
            <a:r>
              <a:rPr lang="de-DE" sz="2000" dirty="0" err="1"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latin typeface="Arial" panose="020B0604020202020204" pitchFamily="34" charset="0"/>
                <a:cs typeface="Arial" panose="020B0604020202020204" pitchFamily="34" charset="0"/>
              </a:rPr>
              <a:t>conditions</a:t>
            </a: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 1-5</a:t>
            </a:r>
            <a:b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Grafik 19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CD6350D9-56CF-28CA-DD65-27D03B023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3" y="1168913"/>
            <a:ext cx="3576822" cy="2346730"/>
          </a:xfrm>
          <a:prstGeom prst="rect">
            <a:avLst/>
          </a:prstGeom>
        </p:spPr>
      </p:pic>
      <p:pic>
        <p:nvPicPr>
          <p:cNvPr id="22" name="Grafik 21" descr="Ein Bild, das Screenshot,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FA517CD2-837E-A3F7-B545-3D68187E6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530" y="1168912"/>
            <a:ext cx="3612650" cy="2346729"/>
          </a:xfrm>
          <a:prstGeom prst="rect">
            <a:avLst/>
          </a:prstGeom>
        </p:spPr>
      </p:pic>
      <p:pic>
        <p:nvPicPr>
          <p:cNvPr id="24" name="Grafik 23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85D8617A-19C2-DAA4-EC20-717A9227A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8045" y="1168912"/>
            <a:ext cx="3658738" cy="2326673"/>
          </a:xfrm>
          <a:prstGeom prst="rect">
            <a:avLst/>
          </a:prstGeom>
        </p:spPr>
      </p:pic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6144FB60-0731-7DC1-729C-53A75FB77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448250"/>
              </p:ext>
            </p:extLst>
          </p:nvPr>
        </p:nvGraphicFramePr>
        <p:xfrm>
          <a:off x="192486" y="3922408"/>
          <a:ext cx="8128001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14003572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0343017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012363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74478797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708954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5356906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82290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Condition</a:t>
                      </a: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mio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dollar</a:t>
                      </a: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Median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mio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dollar</a:t>
                      </a: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mio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dollar</a:t>
                      </a: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mio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dollar</a:t>
                      </a: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mio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dollar</a:t>
                      </a: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Std.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in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mio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dollar</a:t>
                      </a: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255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0,270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0,125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1,500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0,078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0,273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05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0,279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0,170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2,560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0,080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0,247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737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7,060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0,082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0,365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792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0,440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7,700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0,089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0,359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615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3,650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0,411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450996"/>
                  </a:ext>
                </a:extLst>
              </a:tr>
            </a:tbl>
          </a:graphicData>
        </a:graphic>
      </p:graphicFrame>
      <p:sp>
        <p:nvSpPr>
          <p:cNvPr id="37" name="Rechteck 36">
            <a:extLst>
              <a:ext uri="{FF2B5EF4-FFF2-40B4-BE49-F238E27FC236}">
                <a16:creationId xmlns:a16="http://schemas.microsoft.com/office/drawing/2014/main" id="{D5997D8C-C1B4-5C75-13AA-1F25D6DA7F03}"/>
              </a:ext>
            </a:extLst>
          </p:cNvPr>
          <p:cNvSpPr/>
          <p:nvPr/>
        </p:nvSpPr>
        <p:spPr>
          <a:xfrm>
            <a:off x="915856" y="1090585"/>
            <a:ext cx="2434055" cy="1967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1021D7F3-AB1E-B55D-048F-6C6576E159A8}"/>
              </a:ext>
            </a:extLst>
          </p:cNvPr>
          <p:cNvSpPr/>
          <p:nvPr/>
        </p:nvSpPr>
        <p:spPr>
          <a:xfrm>
            <a:off x="4515282" y="1070527"/>
            <a:ext cx="2434055" cy="1967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5F53A511-A374-C29C-4C24-BE1B7A89BF75}"/>
              </a:ext>
            </a:extLst>
          </p:cNvPr>
          <p:cNvSpPr/>
          <p:nvPr/>
        </p:nvSpPr>
        <p:spPr>
          <a:xfrm>
            <a:off x="8329797" y="1064432"/>
            <a:ext cx="2434055" cy="1967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E87A7275-2757-2660-73A6-71A2957AFA2B}"/>
              </a:ext>
            </a:extLst>
          </p:cNvPr>
          <p:cNvSpPr txBox="1"/>
          <p:nvPr/>
        </p:nvSpPr>
        <p:spPr>
          <a:xfrm>
            <a:off x="237148" y="984893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  <a:r>
              <a:rPr lang="de-D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5CB09D8-300B-9FD0-9601-0D11DDE4DC23}"/>
              </a:ext>
            </a:extLst>
          </p:cNvPr>
          <p:cNvSpPr txBox="1"/>
          <p:nvPr/>
        </p:nvSpPr>
        <p:spPr>
          <a:xfrm>
            <a:off x="4028619" y="975910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  <a:r>
              <a:rPr lang="de-D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25E18EE3-A40A-9029-18F0-07A5375136BD}"/>
              </a:ext>
            </a:extLst>
          </p:cNvPr>
          <p:cNvSpPr txBox="1"/>
          <p:nvPr/>
        </p:nvSpPr>
        <p:spPr>
          <a:xfrm>
            <a:off x="7912843" y="984893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  <a:r>
              <a:rPr lang="de-D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FE117A9C-AC11-4BD3-7228-2454D02309E3}"/>
              </a:ext>
            </a:extLst>
          </p:cNvPr>
          <p:cNvSpPr txBox="1"/>
          <p:nvPr/>
        </p:nvSpPr>
        <p:spPr>
          <a:xfrm>
            <a:off x="201796" y="3515641"/>
            <a:ext cx="42194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 and 5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were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plotted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same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way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conditions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D7DEC9E2-F4EC-6CA9-5DF5-179E761DF644}"/>
              </a:ext>
            </a:extLst>
          </p:cNvPr>
          <p:cNvSpPr txBox="1"/>
          <p:nvPr/>
        </p:nvSpPr>
        <p:spPr>
          <a:xfrm>
            <a:off x="8647265" y="3751284"/>
            <a:ext cx="3352249" cy="300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House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prices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generally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increase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better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standard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deviation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increases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suggesting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greater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price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variability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among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homes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better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oliennummernplatzhalter 22">
            <a:extLst>
              <a:ext uri="{FF2B5EF4-FFF2-40B4-BE49-F238E27FC236}">
                <a16:creationId xmlns:a16="http://schemas.microsoft.com/office/drawing/2014/main" id="{D7213082-B19F-BA86-C6B2-7B9965686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3750" y="6375916"/>
            <a:ext cx="2743200" cy="365125"/>
          </a:xfrm>
        </p:spPr>
        <p:txBody>
          <a:bodyPr/>
          <a:lstStyle/>
          <a:p>
            <a:fld id="{A6857D8C-85A1-A94D-B91A-4E7148FA21D3}" type="slidenum">
              <a:rPr lang="de-DE" smtClean="0"/>
              <a:t>5</a:t>
            </a:fld>
            <a:r>
              <a:rPr lang="de-DE" dirty="0"/>
              <a:t>/10</a:t>
            </a:r>
          </a:p>
        </p:txBody>
      </p:sp>
      <p:pic>
        <p:nvPicPr>
          <p:cNvPr id="48" name="Picture 2" descr="Triff – neue fische - in unserem Orientierungskurs">
            <a:extLst>
              <a:ext uri="{FF2B5EF4-FFF2-40B4-BE49-F238E27FC236}">
                <a16:creationId xmlns:a16="http://schemas.microsoft.com/office/drawing/2014/main" id="{AD347F80-A105-FD53-6BF8-2F4E25270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0" y="6325546"/>
            <a:ext cx="1785088" cy="415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 descr="About us — Laika">
            <a:extLst>
              <a:ext uri="{FF2B5EF4-FFF2-40B4-BE49-F238E27FC236}">
                <a16:creationId xmlns:a16="http://schemas.microsoft.com/office/drawing/2014/main" id="{F6BF1521-9FF5-BF1C-FC8A-EC95396B6B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2" t="31269" r="8092" b="35175"/>
          <a:stretch>
            <a:fillRect/>
          </a:stretch>
        </p:blipFill>
        <p:spPr bwMode="auto">
          <a:xfrm>
            <a:off x="2013995" y="6153144"/>
            <a:ext cx="1551008" cy="621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D1EA8258-71CC-3807-C0BC-430C74F6FD3D}"/>
              </a:ext>
            </a:extLst>
          </p:cNvPr>
          <p:cNvSpPr txBox="1"/>
          <p:nvPr/>
        </p:nvSpPr>
        <p:spPr>
          <a:xfrm>
            <a:off x="3622596" y="6375916"/>
            <a:ext cx="29754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 = Price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highest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endParaRPr lang="de-DE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Median = Mean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resistant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extreme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prices</a:t>
            </a:r>
            <a:endParaRPr lang="de-DE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855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A8B75-37DA-7C37-70A3-FD5C34072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601548-AFCB-C8B4-3007-248233C78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46" y="-35359"/>
            <a:ext cx="11989707" cy="770204"/>
          </a:xfrm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Hypothesis 1: The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lower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grade and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cheaper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house</a:t>
            </a:r>
            <a:b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Price </a:t>
            </a:r>
            <a:r>
              <a:rPr lang="de-DE" sz="2000" dirty="0" err="1"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 grade 3-13</a:t>
            </a:r>
            <a:b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FB833EC9-D457-2F79-58E0-B9E0D8586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087040"/>
              </p:ext>
            </p:extLst>
          </p:nvPr>
        </p:nvGraphicFramePr>
        <p:xfrm>
          <a:off x="3908471" y="1225850"/>
          <a:ext cx="8232206" cy="453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068">
                  <a:extLst>
                    <a:ext uri="{9D8B030D-6E8A-4147-A177-3AD203B41FA5}">
                      <a16:colId xmlns:a16="http://schemas.microsoft.com/office/drawing/2014/main" val="11400357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5299083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0343017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012363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74478797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708954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5356906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82290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Grade</a:t>
                      </a:r>
                    </a:p>
                  </a:txBody>
                  <a:tcPr marL="90000"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mio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dollar</a:t>
                      </a: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Median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mio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dollar</a:t>
                      </a: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mio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dollar</a:t>
                      </a: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mio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dollar</a:t>
                      </a: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mio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dollar</a:t>
                      </a: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Std.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in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mio</a:t>
                      </a: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dollar</a:t>
                      </a: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255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0000"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0,262</a:t>
                      </a:r>
                    </a:p>
                  </a:txBody>
                  <a:tcPr marL="90000" anchor="ctr"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0,262</a:t>
                      </a:r>
                    </a:p>
                  </a:txBody>
                  <a:tcPr marL="90000" anchor="ctr"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0,262</a:t>
                      </a:r>
                    </a:p>
                  </a:txBody>
                  <a:tcPr marL="90000" anchor="ctr"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0,262</a:t>
                      </a:r>
                    </a:p>
                  </a:txBody>
                  <a:tcPr marL="90000" anchor="ctr"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0,262</a:t>
                      </a:r>
                    </a:p>
                  </a:txBody>
                  <a:tcPr marL="90000" anchor="ctr"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nan</a:t>
                      </a: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anchor="ctr"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05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0000"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0,212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0,200</a:t>
                      </a:r>
                    </a:p>
                  </a:txBody>
                  <a:tcPr marL="9000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0,355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0,435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0,080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0,097</a:t>
                      </a:r>
                    </a:p>
                  </a:txBody>
                  <a:tcPr marL="9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737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0000"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0,249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0,229</a:t>
                      </a:r>
                    </a:p>
                  </a:txBody>
                  <a:tcPr marL="9000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0,275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0,795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0,078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0,118</a:t>
                      </a:r>
                    </a:p>
                  </a:txBody>
                  <a:tcPr marL="9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792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0000"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0,302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0,275</a:t>
                      </a:r>
                    </a:p>
                  </a:txBody>
                  <a:tcPr marL="9000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0,250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1,200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0,082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0,123</a:t>
                      </a:r>
                    </a:p>
                  </a:txBody>
                  <a:tcPr marL="9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615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0000"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0,403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0,375</a:t>
                      </a:r>
                    </a:p>
                  </a:txBody>
                  <a:tcPr marL="9000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0,350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2,050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0,090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0,156</a:t>
                      </a:r>
                    </a:p>
                  </a:txBody>
                  <a:tcPr marL="9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450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0000"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0,543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0,510</a:t>
                      </a:r>
                    </a:p>
                  </a:txBody>
                  <a:tcPr marL="9000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0,550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3,070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0,140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0,218</a:t>
                      </a:r>
                    </a:p>
                  </a:txBody>
                  <a:tcPr marL="9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816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0000"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0,774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0,720</a:t>
                      </a:r>
                    </a:p>
                  </a:txBody>
                  <a:tcPr marL="9000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0,650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2,300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0,230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0,317</a:t>
                      </a:r>
                    </a:p>
                  </a:txBody>
                  <a:tcPr marL="9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526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0000"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1,072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0,914</a:t>
                      </a:r>
                    </a:p>
                  </a:txBody>
                  <a:tcPr marL="9000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1,050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3,600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0,316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0,484</a:t>
                      </a:r>
                    </a:p>
                  </a:txBody>
                  <a:tcPr marL="9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7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0000"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1,498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1,280</a:t>
                      </a:r>
                    </a:p>
                  </a:txBody>
                  <a:tcPr marL="9000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1,150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7,060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0,420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0,705</a:t>
                      </a:r>
                    </a:p>
                  </a:txBody>
                  <a:tcPr marL="9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76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0000"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2,203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1,820</a:t>
                      </a:r>
                    </a:p>
                  </a:txBody>
                  <a:tcPr marL="9000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1,490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5,350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0,835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1,029</a:t>
                      </a:r>
                    </a:p>
                  </a:txBody>
                  <a:tcPr marL="9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607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90000"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3,711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2,980</a:t>
                      </a:r>
                    </a:p>
                  </a:txBody>
                  <a:tcPr marL="9000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3,800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7,700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0,178</a:t>
                      </a:r>
                    </a:p>
                  </a:txBody>
                  <a:tcPr marL="9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1,859</a:t>
                      </a:r>
                    </a:p>
                  </a:txBody>
                  <a:tcPr marL="9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248612"/>
                  </a:ext>
                </a:extLst>
              </a:tr>
            </a:tbl>
          </a:graphicData>
        </a:graphic>
      </p:graphicFrame>
      <p:sp>
        <p:nvSpPr>
          <p:cNvPr id="40" name="Textfeld 39">
            <a:extLst>
              <a:ext uri="{FF2B5EF4-FFF2-40B4-BE49-F238E27FC236}">
                <a16:creationId xmlns:a16="http://schemas.microsoft.com/office/drawing/2014/main" id="{F03D4D8A-88AB-E1C6-C4D4-D1AA1487B18F}"/>
              </a:ext>
            </a:extLst>
          </p:cNvPr>
          <p:cNvSpPr txBox="1"/>
          <p:nvPr/>
        </p:nvSpPr>
        <p:spPr>
          <a:xfrm>
            <a:off x="357834" y="5826824"/>
            <a:ext cx="31350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Grade 3, and 7-13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were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plotted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same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way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conditions</a:t>
            </a:r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3" name="Grafik 2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144FAC50-0F2A-A386-06D4-5EB72D67C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28" y="1280706"/>
            <a:ext cx="3337331" cy="2101877"/>
          </a:xfrm>
          <a:prstGeom prst="rect">
            <a:avLst/>
          </a:prstGeom>
        </p:spPr>
      </p:pic>
      <p:pic>
        <p:nvPicPr>
          <p:cNvPr id="4" name="Grafik 3" descr="Ein Bild, das Diagramm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BF4201F4-25EA-CE91-3535-55DD768B8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21" y="3730665"/>
            <a:ext cx="3235713" cy="2101877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6AFDAB1B-1230-230B-01AE-48961EE90B3B}"/>
              </a:ext>
            </a:extLst>
          </p:cNvPr>
          <p:cNvSpPr/>
          <p:nvPr/>
        </p:nvSpPr>
        <p:spPr>
          <a:xfrm>
            <a:off x="905941" y="1183466"/>
            <a:ext cx="2434055" cy="1967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A0A3556D-0A32-E994-06B5-23EA5D9B0928}"/>
              </a:ext>
            </a:extLst>
          </p:cNvPr>
          <p:cNvSpPr txBox="1"/>
          <p:nvPr/>
        </p:nvSpPr>
        <p:spPr>
          <a:xfrm>
            <a:off x="357833" y="978245"/>
            <a:ext cx="9492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Grade 4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1769811-9AA5-E8D8-CFE3-74C6E4FA443C}"/>
              </a:ext>
            </a:extLst>
          </p:cNvPr>
          <p:cNvSpPr/>
          <p:nvPr/>
        </p:nvSpPr>
        <p:spPr>
          <a:xfrm>
            <a:off x="832482" y="3625983"/>
            <a:ext cx="2434055" cy="1967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33B5F8F8-936B-C62B-51B6-0F79EE80ED7F}"/>
              </a:ext>
            </a:extLst>
          </p:cNvPr>
          <p:cNvSpPr txBox="1"/>
          <p:nvPr/>
        </p:nvSpPr>
        <p:spPr>
          <a:xfrm>
            <a:off x="357833" y="3456706"/>
            <a:ext cx="9492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Grade 5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0DB742B-6539-82AC-8BDE-5C7112AAC775}"/>
              </a:ext>
            </a:extLst>
          </p:cNvPr>
          <p:cNvSpPr txBox="1"/>
          <p:nvPr/>
        </p:nvSpPr>
        <p:spPr>
          <a:xfrm>
            <a:off x="4869169" y="6026879"/>
            <a:ext cx="70990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600" dirty="0"/>
              <a:t>The </a:t>
            </a:r>
            <a:r>
              <a:rPr lang="de-DE" sz="1600" dirty="0" err="1"/>
              <a:t>table</a:t>
            </a:r>
            <a:r>
              <a:rPr lang="de-DE" sz="1600" dirty="0"/>
              <a:t> </a:t>
            </a:r>
            <a:r>
              <a:rPr lang="de-DE" sz="1600" dirty="0" err="1"/>
              <a:t>shows</a:t>
            </a:r>
            <a:r>
              <a:rPr lang="de-DE" sz="1600" dirty="0"/>
              <a:t> </a:t>
            </a:r>
            <a:r>
              <a:rPr lang="de-DE" sz="1600" dirty="0" err="1"/>
              <a:t>that</a:t>
            </a:r>
            <a:r>
              <a:rPr lang="de-DE" sz="1600" dirty="0"/>
              <a:t> </a:t>
            </a:r>
            <a:r>
              <a:rPr lang="de-DE" sz="1600" dirty="0" err="1"/>
              <a:t>house</a:t>
            </a:r>
            <a:r>
              <a:rPr lang="de-DE" sz="1600" dirty="0"/>
              <a:t> </a:t>
            </a:r>
            <a:r>
              <a:rPr lang="de-DE" sz="1600" dirty="0" err="1"/>
              <a:t>prices</a:t>
            </a:r>
            <a:r>
              <a:rPr lang="de-DE" sz="1600" dirty="0"/>
              <a:t> </a:t>
            </a:r>
            <a:r>
              <a:rPr lang="de-DE" sz="1600" dirty="0" err="1"/>
              <a:t>increase</a:t>
            </a:r>
            <a:r>
              <a:rPr lang="de-DE" sz="1600" dirty="0"/>
              <a:t> </a:t>
            </a:r>
            <a:r>
              <a:rPr lang="de-DE" sz="1600" dirty="0" err="1"/>
              <a:t>strongly</a:t>
            </a:r>
            <a:r>
              <a:rPr lang="de-DE" sz="1600" dirty="0"/>
              <a:t> </a:t>
            </a:r>
            <a:r>
              <a:rPr lang="de-DE" sz="1600" dirty="0" err="1"/>
              <a:t>with</a:t>
            </a:r>
            <a:r>
              <a:rPr lang="de-DE" sz="1600" dirty="0"/>
              <a:t> </a:t>
            </a:r>
            <a:r>
              <a:rPr lang="de-DE" sz="1600" dirty="0" err="1"/>
              <a:t>higher</a:t>
            </a:r>
            <a:r>
              <a:rPr lang="de-DE" sz="1600" dirty="0"/>
              <a:t> grade </a:t>
            </a:r>
            <a:r>
              <a:rPr lang="de-DE" sz="1600" dirty="0" err="1"/>
              <a:t>levels</a:t>
            </a:r>
            <a:r>
              <a:rPr lang="de-DE" sz="1600" dirty="0"/>
              <a:t>.</a:t>
            </a:r>
          </a:p>
        </p:txBody>
      </p:sp>
      <p:sp>
        <p:nvSpPr>
          <p:cNvPr id="31" name="Foliennummernplatzhalter 22">
            <a:extLst>
              <a:ext uri="{FF2B5EF4-FFF2-40B4-BE49-F238E27FC236}">
                <a16:creationId xmlns:a16="http://schemas.microsoft.com/office/drawing/2014/main" id="{91DE242C-83A4-5E8F-B958-9A5BF5829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3750" y="6375916"/>
            <a:ext cx="2743200" cy="365125"/>
          </a:xfrm>
        </p:spPr>
        <p:txBody>
          <a:bodyPr/>
          <a:lstStyle/>
          <a:p>
            <a:fld id="{A6857D8C-85A1-A94D-B91A-4E7148FA21D3}" type="slidenum">
              <a:rPr lang="de-DE" smtClean="0"/>
              <a:t>6</a:t>
            </a:fld>
            <a:r>
              <a:rPr lang="de-DE" dirty="0"/>
              <a:t>/10</a:t>
            </a:r>
          </a:p>
        </p:txBody>
      </p:sp>
      <p:pic>
        <p:nvPicPr>
          <p:cNvPr id="32" name="Picture 2" descr="Triff – neue fische - in unserem Orientierungskurs">
            <a:extLst>
              <a:ext uri="{FF2B5EF4-FFF2-40B4-BE49-F238E27FC236}">
                <a16:creationId xmlns:a16="http://schemas.microsoft.com/office/drawing/2014/main" id="{A0EE9E95-05F6-D233-2901-B113E7ED7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0" y="6325546"/>
            <a:ext cx="1785088" cy="415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" descr="About us — Laika">
            <a:extLst>
              <a:ext uri="{FF2B5EF4-FFF2-40B4-BE49-F238E27FC236}">
                <a16:creationId xmlns:a16="http://schemas.microsoft.com/office/drawing/2014/main" id="{564667EC-A33F-42AB-B30A-2059932D18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2" t="31269" r="8092" b="35175"/>
          <a:stretch>
            <a:fillRect/>
          </a:stretch>
        </p:blipFill>
        <p:spPr bwMode="auto">
          <a:xfrm>
            <a:off x="2013995" y="6153144"/>
            <a:ext cx="1551008" cy="621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9265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22742-3BFA-B166-20BE-D114AF279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5558B2F-A70B-71D8-71D0-F02805BA5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00" y="952422"/>
            <a:ext cx="5908999" cy="5159011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708AE026-4A77-85AE-06C1-A85C19FF2A4A}"/>
              </a:ext>
            </a:extLst>
          </p:cNvPr>
          <p:cNvSpPr txBox="1">
            <a:spLocks/>
          </p:cNvSpPr>
          <p:nvPr/>
        </p:nvSpPr>
        <p:spPr>
          <a:xfrm>
            <a:off x="101145" y="133248"/>
            <a:ext cx="11989707" cy="770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Lower grades and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conditions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associated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lower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median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prices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homes</a:t>
            </a:r>
            <a:b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342560C-BEDF-DEB2-F026-0144C00FDEB1}"/>
              </a:ext>
            </a:extLst>
          </p:cNvPr>
          <p:cNvSpPr txBox="1"/>
          <p:nvPr/>
        </p:nvSpPr>
        <p:spPr>
          <a:xfrm>
            <a:off x="6009624" y="5570077"/>
            <a:ext cx="6263399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à"/>
            </a:pPr>
            <a:r>
              <a:rPr lang="de-DE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Hypothesis 1 </a:t>
            </a:r>
            <a:r>
              <a:rPr lang="de-DE" sz="16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is</a:t>
            </a:r>
            <a:r>
              <a:rPr lang="de-DE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de-DE" sz="16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confirmed</a:t>
            </a:r>
            <a:endParaRPr lang="de-DE" sz="16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à"/>
            </a:pPr>
            <a:r>
              <a:rPr lang="de-DE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Focus on </a:t>
            </a:r>
            <a:r>
              <a:rPr lang="de-DE" sz="16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lower</a:t>
            </a:r>
            <a:r>
              <a:rPr lang="de-DE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grades (grade 4-7) and </a:t>
            </a:r>
            <a:r>
              <a:rPr lang="de-DE" sz="16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conditions</a:t>
            </a:r>
            <a:r>
              <a:rPr lang="de-DE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(</a:t>
            </a:r>
            <a:r>
              <a:rPr lang="de-DE" sz="16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condition</a:t>
            </a:r>
            <a:r>
              <a:rPr lang="de-DE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1-3) </a:t>
            </a:r>
            <a:r>
              <a:rPr lang="de-DE" sz="16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to</a:t>
            </a:r>
            <a:r>
              <a:rPr lang="de-DE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find </a:t>
            </a:r>
            <a:r>
              <a:rPr lang="de-DE" sz="16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houses</a:t>
            </a:r>
            <a:endParaRPr lang="de-DE" sz="16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9A486E3-1147-D5E7-AF4D-3A41A28E2F18}"/>
              </a:ext>
            </a:extLst>
          </p:cNvPr>
          <p:cNvSpPr txBox="1"/>
          <p:nvPr/>
        </p:nvSpPr>
        <p:spPr>
          <a:xfrm>
            <a:off x="6770404" y="1275643"/>
            <a:ext cx="4086649" cy="410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heatmap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shows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median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grade (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y-axis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and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(x-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axis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grades (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especially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10–13)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associated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substantially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median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prices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positive but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smaller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compared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grade on median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prices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oliennummernplatzhalter 22">
            <a:extLst>
              <a:ext uri="{FF2B5EF4-FFF2-40B4-BE49-F238E27FC236}">
                <a16:creationId xmlns:a16="http://schemas.microsoft.com/office/drawing/2014/main" id="{EE64A0A1-9071-0826-86B3-643BDE17B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3750" y="6375916"/>
            <a:ext cx="2743200" cy="365125"/>
          </a:xfrm>
        </p:spPr>
        <p:txBody>
          <a:bodyPr/>
          <a:lstStyle/>
          <a:p>
            <a:fld id="{A6857D8C-85A1-A94D-B91A-4E7148FA21D3}" type="slidenum">
              <a:rPr lang="de-DE" smtClean="0"/>
              <a:t>7</a:t>
            </a:fld>
            <a:r>
              <a:rPr lang="de-DE" dirty="0"/>
              <a:t>/10</a:t>
            </a:r>
          </a:p>
        </p:txBody>
      </p:sp>
      <p:pic>
        <p:nvPicPr>
          <p:cNvPr id="19" name="Picture 2" descr="Triff – neue fische - in unserem Orientierungskurs">
            <a:extLst>
              <a:ext uri="{FF2B5EF4-FFF2-40B4-BE49-F238E27FC236}">
                <a16:creationId xmlns:a16="http://schemas.microsoft.com/office/drawing/2014/main" id="{AF29B856-80B5-FA8A-6466-39B5D7CE6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0" y="6325546"/>
            <a:ext cx="1785088" cy="415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About us — Laika">
            <a:extLst>
              <a:ext uri="{FF2B5EF4-FFF2-40B4-BE49-F238E27FC236}">
                <a16:creationId xmlns:a16="http://schemas.microsoft.com/office/drawing/2014/main" id="{D2302B63-CFFF-217A-2658-221DDB86D1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2" t="31269" r="8092" b="35175"/>
          <a:stretch>
            <a:fillRect/>
          </a:stretch>
        </p:blipFill>
        <p:spPr bwMode="auto">
          <a:xfrm>
            <a:off x="2013995" y="6153144"/>
            <a:ext cx="1551008" cy="621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546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B7402-CE37-9246-D6F2-4D5D60A2A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4CA3C2E6-7218-6151-9EDA-D49DF880F61A}"/>
              </a:ext>
            </a:extLst>
          </p:cNvPr>
          <p:cNvGrpSpPr/>
          <p:nvPr/>
        </p:nvGrpSpPr>
        <p:grpSpPr>
          <a:xfrm>
            <a:off x="109870" y="1353657"/>
            <a:ext cx="8867911" cy="3726862"/>
            <a:chOff x="103205" y="1400535"/>
            <a:chExt cx="7974957" cy="3449257"/>
          </a:xfrm>
        </p:grpSpPr>
        <p:pic>
          <p:nvPicPr>
            <p:cNvPr id="16" name="Grafik 15" descr="Ein Bild, das Karte, Text, Atlas enthält.&#10;&#10;KI-generierte Inhalte können fehlerhaft sein.">
              <a:extLst>
                <a:ext uri="{FF2B5EF4-FFF2-40B4-BE49-F238E27FC236}">
                  <a16:creationId xmlns:a16="http://schemas.microsoft.com/office/drawing/2014/main" id="{C2F2926D-E175-D345-B553-1816E4F263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438" t="11639" r="7143" b="15456"/>
            <a:stretch>
              <a:fillRect/>
            </a:stretch>
          </p:blipFill>
          <p:spPr>
            <a:xfrm>
              <a:off x="103205" y="1400535"/>
              <a:ext cx="7974957" cy="3449257"/>
            </a:xfrm>
            <a:prstGeom prst="rect">
              <a:avLst/>
            </a:prstGeom>
          </p:spPr>
        </p:pic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2A7D1817-43EC-FFD4-C32B-2071E15FD084}"/>
                </a:ext>
              </a:extLst>
            </p:cNvPr>
            <p:cNvSpPr txBox="1"/>
            <p:nvPr/>
          </p:nvSpPr>
          <p:spPr>
            <a:xfrm>
              <a:off x="3434224" y="1645697"/>
              <a:ext cx="5420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A7C3CA2E-90A5-00EB-76EC-90CA40ABF467}"/>
                </a:ext>
              </a:extLst>
            </p:cNvPr>
            <p:cNvSpPr txBox="1"/>
            <p:nvPr/>
          </p:nvSpPr>
          <p:spPr>
            <a:xfrm>
              <a:off x="3508492" y="2654624"/>
              <a:ext cx="5420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F6881EE0-DBD5-0C6D-EC20-044BE21CA4C2}"/>
                </a:ext>
              </a:extLst>
            </p:cNvPr>
            <p:cNvSpPr txBox="1"/>
            <p:nvPr/>
          </p:nvSpPr>
          <p:spPr>
            <a:xfrm>
              <a:off x="4718582" y="2663948"/>
              <a:ext cx="5420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B0262569-71E4-F3E7-2265-F05A3FE8967B}"/>
                </a:ext>
              </a:extLst>
            </p:cNvPr>
            <p:cNvSpPr txBox="1"/>
            <p:nvPr/>
          </p:nvSpPr>
          <p:spPr>
            <a:xfrm>
              <a:off x="3146219" y="1800995"/>
              <a:ext cx="5420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B5FC4E40-0A5B-36DE-E958-F5227F1CC950}"/>
                </a:ext>
              </a:extLst>
            </p:cNvPr>
            <p:cNvSpPr txBox="1"/>
            <p:nvPr/>
          </p:nvSpPr>
          <p:spPr>
            <a:xfrm>
              <a:off x="3819642" y="3582931"/>
              <a:ext cx="5420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2BCBBE29-2A41-EE1E-3E3C-418F82FB3358}"/>
                </a:ext>
              </a:extLst>
            </p:cNvPr>
            <p:cNvSpPr txBox="1"/>
            <p:nvPr/>
          </p:nvSpPr>
          <p:spPr>
            <a:xfrm>
              <a:off x="4113537" y="2316070"/>
              <a:ext cx="5420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CB2281A4-6132-FC30-71BA-E043840E1B57}"/>
                </a:ext>
              </a:extLst>
            </p:cNvPr>
            <p:cNvSpPr txBox="1"/>
            <p:nvPr/>
          </p:nvSpPr>
          <p:spPr>
            <a:xfrm>
              <a:off x="3842496" y="3967228"/>
              <a:ext cx="5420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67A1E9FA-B9DD-23D9-A316-6C014C24DDE8}"/>
                </a:ext>
              </a:extLst>
            </p:cNvPr>
            <p:cNvSpPr txBox="1"/>
            <p:nvPr/>
          </p:nvSpPr>
          <p:spPr>
            <a:xfrm>
              <a:off x="2737814" y="3244377"/>
              <a:ext cx="5420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6D641F57-A620-4673-A1E5-004F9F43E493}"/>
                </a:ext>
              </a:extLst>
            </p:cNvPr>
            <p:cNvSpPr txBox="1"/>
            <p:nvPr/>
          </p:nvSpPr>
          <p:spPr>
            <a:xfrm>
              <a:off x="3074559" y="2574004"/>
              <a:ext cx="5420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D7F970-880E-228B-D07A-26B99F3DD828}"/>
                </a:ext>
              </a:extLst>
            </p:cNvPr>
            <p:cNvSpPr txBox="1"/>
            <p:nvPr/>
          </p:nvSpPr>
          <p:spPr>
            <a:xfrm>
              <a:off x="4447541" y="4317438"/>
              <a:ext cx="5420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08DB8FCF-F508-20EC-27F3-E4AD4B7B652D}"/>
                </a:ext>
              </a:extLst>
            </p:cNvPr>
            <p:cNvSpPr txBox="1"/>
            <p:nvPr/>
          </p:nvSpPr>
          <p:spPr>
            <a:xfrm>
              <a:off x="3074558" y="2080152"/>
              <a:ext cx="5420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2DA24790-1FD4-7BC5-C8B7-914EF8922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66" y="146990"/>
            <a:ext cx="11801865" cy="770204"/>
          </a:xfrm>
        </p:spPr>
        <p:txBody>
          <a:bodyPr>
            <a:noAutofit/>
          </a:bodyPr>
          <a:lstStyle/>
          <a:p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Hypothesis 2: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Cheap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houses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accumulated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in a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specific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council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district</a:t>
            </a:r>
            <a:b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A8DB755-7908-D0A7-76B3-143AC196309F}"/>
              </a:ext>
            </a:extLst>
          </p:cNvPr>
          <p:cNvSpPr txBox="1"/>
          <p:nvPr/>
        </p:nvSpPr>
        <p:spPr>
          <a:xfrm>
            <a:off x="195066" y="750405"/>
            <a:ext cx="4435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cheap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houses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Up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120,000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dollars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443E771-218C-709B-6074-79A91F5B85F2}"/>
              </a:ext>
            </a:extLst>
          </p:cNvPr>
          <p:cNvSpPr txBox="1"/>
          <p:nvPr/>
        </p:nvSpPr>
        <p:spPr>
          <a:xfrm>
            <a:off x="267706" y="1439863"/>
            <a:ext cx="3146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King County Council </a:t>
            </a:r>
            <a:r>
              <a:rPr lang="de-DE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Districts</a:t>
            </a:r>
            <a:endParaRPr lang="de-DE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7F9811B7-B509-8813-7DEC-405AEE881F23}"/>
              </a:ext>
            </a:extLst>
          </p:cNvPr>
          <p:cNvSpPr txBox="1"/>
          <p:nvPr/>
        </p:nvSpPr>
        <p:spPr>
          <a:xfrm>
            <a:off x="267706" y="5229851"/>
            <a:ext cx="56428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à"/>
            </a:pP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accumulation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cheap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houses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district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5, 7, and 8</a:t>
            </a:r>
          </a:p>
          <a:p>
            <a:pPr marL="285750" indent="-285750">
              <a:buFont typeface="Wingdings" pitchFamily="2" charset="2"/>
              <a:buChar char="à"/>
            </a:pP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à"/>
            </a:pP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2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confirmed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Foliennummernplatzhalter 22">
            <a:extLst>
              <a:ext uri="{FF2B5EF4-FFF2-40B4-BE49-F238E27FC236}">
                <a16:creationId xmlns:a16="http://schemas.microsoft.com/office/drawing/2014/main" id="{BB291B57-EA06-C913-AA03-263BB4212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3750" y="6375916"/>
            <a:ext cx="2743200" cy="365125"/>
          </a:xfrm>
        </p:spPr>
        <p:txBody>
          <a:bodyPr/>
          <a:lstStyle/>
          <a:p>
            <a:fld id="{A6857D8C-85A1-A94D-B91A-4E7148FA21D3}" type="slidenum">
              <a:rPr lang="de-DE" smtClean="0"/>
              <a:t>8</a:t>
            </a:fld>
            <a:r>
              <a:rPr lang="de-DE" dirty="0"/>
              <a:t>/10</a:t>
            </a:r>
          </a:p>
        </p:txBody>
      </p:sp>
      <p:pic>
        <p:nvPicPr>
          <p:cNvPr id="37" name="Picture 2" descr="Triff – neue fische - in unserem Orientierungskurs">
            <a:extLst>
              <a:ext uri="{FF2B5EF4-FFF2-40B4-BE49-F238E27FC236}">
                <a16:creationId xmlns:a16="http://schemas.microsoft.com/office/drawing/2014/main" id="{9C99BEE3-7F6A-C96E-6E19-7B73CFB6D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0" y="6325546"/>
            <a:ext cx="1785088" cy="415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About us — Laika">
            <a:extLst>
              <a:ext uri="{FF2B5EF4-FFF2-40B4-BE49-F238E27FC236}">
                <a16:creationId xmlns:a16="http://schemas.microsoft.com/office/drawing/2014/main" id="{8244AA97-34C7-4C48-0EE8-FAFCFE0BF9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2" t="31269" r="8092" b="35175"/>
          <a:stretch>
            <a:fillRect/>
          </a:stretch>
        </p:blipFill>
        <p:spPr bwMode="auto">
          <a:xfrm>
            <a:off x="2013995" y="6153144"/>
            <a:ext cx="1551008" cy="621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4324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C3568-E2EF-E1B3-0F37-71028270C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75C17A-41FC-EF55-9B80-898F7EECF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3" y="236641"/>
            <a:ext cx="11996933" cy="770204"/>
          </a:xfrm>
        </p:spPr>
        <p:txBody>
          <a:bodyPr>
            <a:noAutofit/>
          </a:bodyPr>
          <a:lstStyle/>
          <a:p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Hypothesis 3: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Houses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at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waterfront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more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expensive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compared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houses</a:t>
            </a:r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 wo a </a:t>
            </a:r>
            <a:r>
              <a:rPr lang="de-D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waterfront</a:t>
            </a:r>
            <a:b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BF1C731-F2A0-DA72-9600-4AC86EB89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3" y="1128716"/>
            <a:ext cx="5872995" cy="4812887"/>
          </a:xfrm>
          <a:prstGeom prst="rect">
            <a:avLst/>
          </a:prstGeom>
        </p:spPr>
      </p:pic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F2EE6618-84E2-9BA4-C1F9-3D440D8A8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121881"/>
              </p:ext>
            </p:extLst>
          </p:nvPr>
        </p:nvGraphicFramePr>
        <p:xfrm>
          <a:off x="5970528" y="1655178"/>
          <a:ext cx="6221472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1052">
                  <a:extLst>
                    <a:ext uri="{9D8B030D-6E8A-4147-A177-3AD203B41FA5}">
                      <a16:colId xmlns:a16="http://schemas.microsoft.com/office/drawing/2014/main" val="3676821027"/>
                    </a:ext>
                  </a:extLst>
                </a:gridCol>
                <a:gridCol w="902772">
                  <a:extLst>
                    <a:ext uri="{9D8B030D-6E8A-4147-A177-3AD203B41FA5}">
                      <a16:colId xmlns:a16="http://schemas.microsoft.com/office/drawing/2014/main" val="1385176561"/>
                    </a:ext>
                  </a:extLst>
                </a:gridCol>
                <a:gridCol w="1036912">
                  <a:extLst>
                    <a:ext uri="{9D8B030D-6E8A-4147-A177-3AD203B41FA5}">
                      <a16:colId xmlns:a16="http://schemas.microsoft.com/office/drawing/2014/main" val="2010545993"/>
                    </a:ext>
                  </a:extLst>
                </a:gridCol>
                <a:gridCol w="1036912">
                  <a:extLst>
                    <a:ext uri="{9D8B030D-6E8A-4147-A177-3AD203B41FA5}">
                      <a16:colId xmlns:a16="http://schemas.microsoft.com/office/drawing/2014/main" val="2118042589"/>
                    </a:ext>
                  </a:extLst>
                </a:gridCol>
                <a:gridCol w="1036912">
                  <a:extLst>
                    <a:ext uri="{9D8B030D-6E8A-4147-A177-3AD203B41FA5}">
                      <a16:colId xmlns:a16="http://schemas.microsoft.com/office/drawing/2014/main" val="547259042"/>
                    </a:ext>
                  </a:extLst>
                </a:gridCol>
                <a:gridCol w="1036912">
                  <a:extLst>
                    <a:ext uri="{9D8B030D-6E8A-4147-A177-3AD203B41FA5}">
                      <a16:colId xmlns:a16="http://schemas.microsoft.com/office/drawing/2014/main" val="485616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e-DE" sz="140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Waterfront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</a:t>
                      </a:r>
                      <a:r>
                        <a:rPr lang="de-DE" sz="140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endParaRPr lang="de-DE" sz="140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Median </a:t>
                      </a:r>
                      <a:r>
                        <a:rPr lang="de-DE" sz="140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endParaRPr lang="de-DE" sz="140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</a:t>
                      </a:r>
                      <a:r>
                        <a:rPr lang="de-DE" sz="140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endParaRPr lang="de-DE" sz="140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 </a:t>
                      </a:r>
                      <a:r>
                        <a:rPr lang="de-DE" sz="140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endParaRPr lang="de-DE" sz="140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Std. </a:t>
                      </a:r>
                      <a:r>
                        <a:rPr lang="de-DE" sz="140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</a:t>
                      </a:r>
                      <a:r>
                        <a:rPr lang="de-DE" sz="140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r>
                        <a:rPr lang="de-DE" sz="140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endParaRPr lang="de-DE" sz="140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965373"/>
                  </a:ext>
                </a:extLst>
              </a:tr>
              <a:tr h="243179">
                <a:tc>
                  <a:txBody>
                    <a:bodyPr/>
                    <a:lstStyle/>
                    <a:p>
                      <a:r>
                        <a:rPr lang="de-DE" sz="140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0.533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7.700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861402"/>
                  </a:ext>
                </a:extLst>
              </a:tr>
              <a:tr h="243179">
                <a:tc>
                  <a:txBody>
                    <a:bodyPr/>
                    <a:lstStyle/>
                    <a:p>
                      <a:r>
                        <a:rPr lang="de-DE" sz="140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de-DE" sz="140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1.717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7.060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1.145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7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76057"/>
                  </a:ext>
                </a:extLst>
              </a:tr>
            </a:tbl>
          </a:graphicData>
        </a:graphic>
      </p:graphicFrame>
      <p:sp>
        <p:nvSpPr>
          <p:cNvPr id="13" name="Textfeld 12">
            <a:extLst>
              <a:ext uri="{FF2B5EF4-FFF2-40B4-BE49-F238E27FC236}">
                <a16:creationId xmlns:a16="http://schemas.microsoft.com/office/drawing/2014/main" id="{4AF6E12C-51BB-85FE-DE29-2BF5E2A6AA59}"/>
              </a:ext>
            </a:extLst>
          </p:cNvPr>
          <p:cNvSpPr txBox="1"/>
          <p:nvPr/>
        </p:nvSpPr>
        <p:spPr>
          <a:xfrm>
            <a:off x="5970528" y="3309400"/>
            <a:ext cx="6123938" cy="226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Prices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houses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waterfront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3x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compared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houses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waterfront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 on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houses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waterfront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3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confirmed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oliennummernplatzhalter 22">
            <a:extLst>
              <a:ext uri="{FF2B5EF4-FFF2-40B4-BE49-F238E27FC236}">
                <a16:creationId xmlns:a16="http://schemas.microsoft.com/office/drawing/2014/main" id="{D1AE5B36-06A7-230A-5193-F8F26B3FE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3750" y="6375916"/>
            <a:ext cx="2743200" cy="365125"/>
          </a:xfrm>
        </p:spPr>
        <p:txBody>
          <a:bodyPr/>
          <a:lstStyle/>
          <a:p>
            <a:fld id="{A6857D8C-85A1-A94D-B91A-4E7148FA21D3}" type="slidenum">
              <a:rPr lang="de-DE" smtClean="0"/>
              <a:t>9</a:t>
            </a:fld>
            <a:r>
              <a:rPr lang="de-DE" dirty="0"/>
              <a:t>/10</a:t>
            </a:r>
          </a:p>
        </p:txBody>
      </p:sp>
      <p:pic>
        <p:nvPicPr>
          <p:cNvPr id="18" name="Picture 2" descr="Triff – neue fische - in unserem Orientierungskurs">
            <a:extLst>
              <a:ext uri="{FF2B5EF4-FFF2-40B4-BE49-F238E27FC236}">
                <a16:creationId xmlns:a16="http://schemas.microsoft.com/office/drawing/2014/main" id="{75DE4AAB-3DB7-A497-6797-096CB041F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0" y="6325546"/>
            <a:ext cx="1785088" cy="415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About us — Laika">
            <a:extLst>
              <a:ext uri="{FF2B5EF4-FFF2-40B4-BE49-F238E27FC236}">
                <a16:creationId xmlns:a16="http://schemas.microsoft.com/office/drawing/2014/main" id="{4759F753-60A5-7EA8-496A-C9568A30FB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2" t="31269" r="8092" b="35175"/>
          <a:stretch>
            <a:fillRect/>
          </a:stretch>
        </p:blipFill>
        <p:spPr bwMode="auto">
          <a:xfrm>
            <a:off x="2013995" y="6153144"/>
            <a:ext cx="1551008" cy="621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1858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D7FF4-7D4F-7B23-AE1D-B69361D7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DE306D-B020-2C61-EE44-B4F0B3B70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95" y="123519"/>
            <a:ext cx="11801865" cy="770204"/>
          </a:xfrm>
        </p:spPr>
        <p:txBody>
          <a:bodyPr>
            <a:noAutofit/>
          </a:bodyPr>
          <a:lstStyle/>
          <a:p>
            <a:r>
              <a:rPr lang="de-DE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 King County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2B7F8CB-3107-AFC6-4280-FB95D6FEAE82}"/>
              </a:ext>
            </a:extLst>
          </p:cNvPr>
          <p:cNvSpPr txBox="1"/>
          <p:nvPr/>
        </p:nvSpPr>
        <p:spPr>
          <a:xfrm>
            <a:off x="90895" y="1250644"/>
            <a:ext cx="6204030" cy="5857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Summary </a:t>
            </a:r>
            <a:r>
              <a:rPr lang="de-DE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for</a:t>
            </a: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de-DE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affordable</a:t>
            </a: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de-DE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houses</a:t>
            </a: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in King County</a:t>
            </a:r>
            <a:endParaRPr lang="de-DE" sz="18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>
              <a:lnSpc>
                <a:spcPct val="150000"/>
              </a:lnSpc>
            </a:pP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à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accumulation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affordable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district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5, 7, 8</a:t>
            </a: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à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à"/>
            </a:pP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Use </a:t>
            </a:r>
            <a:r>
              <a:rPr lang="de-DE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the</a:t>
            </a: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King </a:t>
            </a:r>
            <a:r>
              <a:rPr lang="de-DE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Counting</a:t>
            </a: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de-DE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grading</a:t>
            </a: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de-DE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system</a:t>
            </a: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de-DE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focus</a:t>
            </a: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on </a:t>
            </a:r>
            <a:r>
              <a:rPr lang="de-DE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low</a:t>
            </a: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grades (grade 4-7) and </a:t>
            </a:r>
            <a:r>
              <a:rPr lang="de-DE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conditions</a:t>
            </a: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(</a:t>
            </a:r>
            <a:r>
              <a:rPr lang="de-DE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condition</a:t>
            </a: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1-3)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à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à"/>
            </a:pP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waterfront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likely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cheaper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à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à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King County real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estate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November and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February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à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à"/>
            </a:pP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à"/>
            </a:pP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CF90A4D-F342-32CF-2CF8-DFCDAB8B3816}"/>
              </a:ext>
            </a:extLst>
          </p:cNvPr>
          <p:cNvSpPr txBox="1"/>
          <p:nvPr/>
        </p:nvSpPr>
        <p:spPr>
          <a:xfrm>
            <a:off x="9051451" y="893723"/>
            <a:ext cx="2620851" cy="78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6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de-DE" sz="1600" b="0" i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ear 2014: 450,000 </a:t>
            </a:r>
            <a:r>
              <a:rPr lang="de-DE" sz="1600" b="0" i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dollar</a:t>
            </a:r>
            <a:endParaRPr lang="de-DE" sz="1600" b="0" i="0" dirty="0">
              <a:solidFill>
                <a:srgbClr val="CCCC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de-DE" sz="16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 </a:t>
            </a:r>
            <a:r>
              <a:rPr lang="de-DE" sz="1600" b="0" i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2015: 451,000 </a:t>
            </a:r>
            <a:r>
              <a:rPr lang="de-DE" sz="1600" b="0" i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dollar</a:t>
            </a: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296BD623-46C9-6555-9C22-7F1C36D60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601" y="1817053"/>
            <a:ext cx="5241701" cy="2862322"/>
          </a:xfrm>
          <a:prstGeom prst="rect">
            <a:avLst/>
          </a:prstGeom>
        </p:spPr>
      </p:pic>
      <p:sp>
        <p:nvSpPr>
          <p:cNvPr id="21" name="Foliennummernplatzhalter 22">
            <a:extLst>
              <a:ext uri="{FF2B5EF4-FFF2-40B4-BE49-F238E27FC236}">
                <a16:creationId xmlns:a16="http://schemas.microsoft.com/office/drawing/2014/main" id="{63C95DCD-1DA4-4B34-B665-41647F136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3750" y="6375916"/>
            <a:ext cx="2743200" cy="365125"/>
          </a:xfrm>
        </p:spPr>
        <p:txBody>
          <a:bodyPr/>
          <a:lstStyle/>
          <a:p>
            <a:fld id="{A6857D8C-85A1-A94D-B91A-4E7148FA21D3}" type="slidenum">
              <a:rPr lang="de-DE" smtClean="0"/>
              <a:t>10</a:t>
            </a:fld>
            <a:r>
              <a:rPr lang="de-DE" dirty="0"/>
              <a:t>/10</a:t>
            </a:r>
          </a:p>
        </p:txBody>
      </p:sp>
      <p:pic>
        <p:nvPicPr>
          <p:cNvPr id="22" name="Picture 2" descr="Triff – neue fische - in unserem Orientierungskurs">
            <a:extLst>
              <a:ext uri="{FF2B5EF4-FFF2-40B4-BE49-F238E27FC236}">
                <a16:creationId xmlns:a16="http://schemas.microsoft.com/office/drawing/2014/main" id="{33B72A8B-2CB2-6FB5-282D-D6B70DD8F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0" y="6325546"/>
            <a:ext cx="1785088" cy="415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About us — Laika">
            <a:extLst>
              <a:ext uri="{FF2B5EF4-FFF2-40B4-BE49-F238E27FC236}">
                <a16:creationId xmlns:a16="http://schemas.microsoft.com/office/drawing/2014/main" id="{2A60C558-5EE6-6ED0-C562-124199B2EA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2" t="31269" r="8092" b="35175"/>
          <a:stretch>
            <a:fillRect/>
          </a:stretch>
        </p:blipFill>
        <p:spPr bwMode="auto">
          <a:xfrm>
            <a:off x="2013995" y="6153144"/>
            <a:ext cx="1551008" cy="621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3640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829</Words>
  <Application>Microsoft Macintosh PowerPoint</Application>
  <PresentationFormat>Breitbild</PresentationFormat>
  <Paragraphs>247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</vt:lpstr>
      <vt:lpstr>PowerPoint-Präsentation</vt:lpstr>
      <vt:lpstr>- Invest in poor neighborhood  - Buying &amp; selling  - Costs back + little profit  - Socially responsible </vt:lpstr>
      <vt:lpstr>PowerPoint-Präsentation</vt:lpstr>
      <vt:lpstr>PowerPoint-Präsentation</vt:lpstr>
      <vt:lpstr>Hypothesis 1: The lower the grade and condition, the cheaper the house Price distribution of conditions 1-5 </vt:lpstr>
      <vt:lpstr>Hypothesis 1: The lower the grade and condition, the cheaper the house Price distribution of grade 3-13 </vt:lpstr>
      <vt:lpstr>PowerPoint-Präsentation</vt:lpstr>
      <vt:lpstr>Hypothesis 2: Cheap houses are accumulated in a specific council district </vt:lpstr>
      <vt:lpstr>Hypothesis 3: Houses at the waterfront are more expensive compared to houses wo a waterfront </vt:lpstr>
      <vt:lpstr>Recommendations for King County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isabell.durieux@gmail.com</dc:creator>
  <cp:lastModifiedBy>isabell.durieux@gmail.com</cp:lastModifiedBy>
  <cp:revision>20</cp:revision>
  <dcterms:created xsi:type="dcterms:W3CDTF">2026-02-17T11:01:52Z</dcterms:created>
  <dcterms:modified xsi:type="dcterms:W3CDTF">2026-02-20T10:56:25Z</dcterms:modified>
</cp:coreProperties>
</file>